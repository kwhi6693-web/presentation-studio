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188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验收分值</c:v>
          </c:tx>
          <c:spPr>
            <a:solidFill>
              <a:srgbClr val="4FD1C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F8FAFC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文本</c:v>
              </c:pt>
              <c:pt idx="1">
                <c:v>图表</c:v>
              </c:pt>
              <c:pt idx="2">
                <c:v>表格</c:v>
              </c:pt>
              <c:pt idx="3">
                <c:v>图片</c:v>
              </c:pt>
              <c:pt idx="4">
                <c:v>HTML</c:v>
              </c:pt>
            </c:str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95</c:v>
              </c:pt>
              <c:pt idx="2">
                <c:v>93</c:v>
              </c:pt>
              <c:pt idx="3">
                <c:v>90</c:v>
              </c:pt>
              <c:pt idx="4">
                <c:v>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533-45F8-9B66-AC150D7FFF3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27324A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CBD5E1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w="9525">
              <a:solidFill>
                <a:srgbClr val="27324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27324A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CBD5E1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  <c:spPr>
        <a:solidFill>
          <a:srgbClr val="0B1020"/>
        </a:solidFill>
        <a:ln w="0">
          <a:solidFill>
            <a:srgbClr val="0B1020"/>
          </a:solidFill>
          <a:prstDash val="solid"/>
        </a:ln>
      </c:spPr>
    </c:plotArea>
    <c:plotVisOnly val="1"/>
    <c:dispBlanksAs val="zero"/>
    <c:showDLblsOverMax val="1"/>
  </c:chart>
  <c:spPr>
    <a:solidFill>
      <a:srgbClr val="0B1020"/>
    </a:solidFill>
    <a:ln w="0">
      <a:solidFill>
        <a:srgbClr val="0B1020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Hero visual: generated with built-in image_gen for this acceptance sample.</a:t>
            </a:r>
          </a:p>
          <a:p>
            <a:r>
              <a:t>- All benchmark values are synthetic QA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Capability definitions: local acceptance design.</a:t>
            </a:r>
          </a:p>
          <a:p>
            <a:r>
              <a:t>- Status labels are validated at final QA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Chart data: presentation-acceptance-synthetic-benchmark-v1.</a:t>
            </a:r>
          </a:p>
          <a:p>
            <a:r>
              <a:t>- Values are synthetic QA data, not performance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Workflow: user-approved bilingual acceptance design.</a:t>
            </a:r>
          </a:p>
          <a:p>
            <a:r>
              <a:t>- Delivery table is part of the local QA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Final status is populated from local QA records.</a:t>
            </a:r>
          </a:p>
          <a:p>
            <a:r>
              <a:t>- Motion limitation follows the approved acceptance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hero-image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over-left-field">
            <a:extLst>
              <a:ext uri="{FF2B5EF4-FFF2-40B4-BE49-F238E27FC236}">
                <a16:creationId xmlns:a16="http://schemas.microsoft.com/office/drawing/2014/main" id="{D54C15CA-E08F-4D71-B8E9-D683B2BE5C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00750" cy="6858000"/>
          </a:xfrm>
          <a:prstGeom prst="rect">
            <a:avLst/>
          </a:prstGeom>
          <a:solidFill>
            <a:srgbClr val="0B1020"/>
          </a:solidFill>
          <a:ln w="0">
            <a:noFill/>
            <a:prstDash val="solid"/>
          </a:ln>
        </p:spPr>
      </p:sp>
      <p:sp>
        <p:nvSpPr>
          <p:cNvPr id="3" name="cover-accent">
            <a:extLst>
              <a:ext uri="{FF2B5EF4-FFF2-40B4-BE49-F238E27FC236}">
                <a16:creationId xmlns:a16="http://schemas.microsoft.com/office/drawing/2014/main" id="{75A0A319-939A-4EF1-861D-986028E76F9D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95250" cy="2476500"/>
          </a:xfrm>
          <a:prstGeom prst="rect">
            <a:avLst/>
          </a:prstGeom>
          <a:solidFill>
            <a:srgbClr val="4FD1C5"/>
          </a:solidFill>
          <a:ln w="0">
            <a:noFill/>
            <a:prstDash val="solid"/>
          </a:ln>
        </p:spPr>
      </p:sp>
      <p:sp>
        <p:nvSpPr>
          <p:cNvPr id="4" name="cover-eyebrow">
            <a:extLst>
              <a:ext uri="{FF2B5EF4-FFF2-40B4-BE49-F238E27FC236}">
                <a16:creationId xmlns:a16="http://schemas.microsoft.com/office/drawing/2014/main" id="{5AED06D4-A836-4140-9931-B6A1D2257905}"/>
              </a:ext>
            </a:extLst>
          </p:cNvPr>
          <p:cNvSpPr>
            <a:spLocks noGrp="1"/>
          </p:cNvSpPr>
          <p:nvPr/>
        </p:nvSpPr>
        <p:spPr>
          <a:xfrm>
            <a:off x="1028700" y="13906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端到端能力验证</a:t>
            </a:r>
          </a:p>
        </p:txBody>
      </p:sp>
      <p:sp>
        <p:nvSpPr>
          <p:cNvPr id="5" name="cover-title">
            <a:extLst>
              <a:ext uri="{FF2B5EF4-FFF2-40B4-BE49-F238E27FC236}">
                <a16:creationId xmlns:a16="http://schemas.microsoft.com/office/drawing/2014/main" id="{F3D557CA-7F49-4D52-9A00-48EA641A21AB}"/>
              </a:ext>
            </a:extLst>
          </p:cNvPr>
          <p:cNvSpPr>
            <a:spLocks noGrp="1"/>
          </p:cNvSpPr>
          <p:nvPr/>
        </p:nvSpPr>
        <p:spPr>
          <a:xfrm>
            <a:off x="1028700" y="1981200"/>
            <a:ext cx="476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演示文稿能力验收报告</a:t>
            </a: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FBF24DE6-7C4B-4C5F-8A21-7DB7B2DB0045}"/>
              </a:ext>
            </a:extLst>
          </p:cNvPr>
          <p:cNvSpPr>
            <a:spLocks noGrp="1"/>
          </p:cNvSpPr>
          <p:nvPr/>
        </p:nvSpPr>
        <p:spPr>
          <a:xfrm>
            <a:off x="1028700" y="3105150"/>
            <a:ext cx="4572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双语样例 · 原生可编辑 · 多格式交付</a:t>
            </a:r>
          </a:p>
        </p:txBody>
      </p:sp>
      <p:sp>
        <p:nvSpPr>
          <p:cNvPr id="7" name="cover-date">
            <a:extLst>
              <a:ext uri="{FF2B5EF4-FFF2-40B4-BE49-F238E27FC236}">
                <a16:creationId xmlns:a16="http://schemas.microsoft.com/office/drawing/2014/main" id="{817FF2F7-BD22-47CB-B2F2-40E6EA1F161D}"/>
              </a:ext>
            </a:extLst>
          </p:cNvPr>
          <p:cNvSpPr>
            <a:spLocks noGrp="1"/>
          </p:cNvSpPr>
          <p:nvPr/>
        </p:nvSpPr>
        <p:spPr>
          <a:xfrm>
            <a:off x="1028700" y="5886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F6B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6B94A"/>
                </a:solidFill>
                <a:latin typeface="Microsoft YaHei"/>
                <a:ea typeface="Microsoft YaHei"/>
                <a:cs typeface="Microsoft YaHei"/>
              </a:rPr>
              <a:t>2026.08.13</a:t>
            </a:r>
          </a:p>
        </p:txBody>
      </p:sp>
    </p:spTree>
    <p:extLst>
      <p:ext uri="{BB962C8B-B14F-4D97-AF65-F5344CB8AC3E}">
        <p14:creationId xmlns:p14="http://schemas.microsoft.com/office/powerpoint/2010/main" val="79653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-scope">
            <a:extLst>
              <a:ext uri="{FF2B5EF4-FFF2-40B4-BE49-F238E27FC236}">
                <a16:creationId xmlns:a16="http://schemas.microsoft.com/office/drawing/2014/main" id="{42B5D711-7082-4367-91F5-96F92D4BB886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01 / 验收范围</a:t>
            </a:r>
          </a:p>
        </p:txBody>
      </p:sp>
      <p:sp>
        <p:nvSpPr>
          <p:cNvPr id="2" name="page-scope">
            <a:extLst>
              <a:ext uri="{FF2B5EF4-FFF2-40B4-BE49-F238E27FC236}">
                <a16:creationId xmlns:a16="http://schemas.microsoft.com/office/drawing/2014/main" id="{F9BCCCD7-0834-4A4A-9F7D-54B498A49068}"/>
              </a:ext>
            </a:extLst>
          </p:cNvPr>
          <p:cNvSpPr>
            <a:spLocks noGrp="1"/>
          </p:cNvSpPr>
          <p:nvPr/>
        </p:nvSpPr>
        <p:spPr>
          <a:xfrm>
            <a:off x="10668000" y="4191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02 / 05</a:t>
            </a:r>
          </a:p>
        </p:txBody>
      </p:sp>
      <p:sp>
        <p:nvSpPr>
          <p:cNvPr id="3" name="top-rule-scope">
            <a:extLst>
              <a:ext uri="{FF2B5EF4-FFF2-40B4-BE49-F238E27FC236}">
                <a16:creationId xmlns:a16="http://schemas.microsoft.com/office/drawing/2014/main" id="{A7E4BD97-DC64-42D7-82D9-A72AACEF0BA6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1049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4" name="scope-title">
            <a:extLst>
              <a:ext uri="{FF2B5EF4-FFF2-40B4-BE49-F238E27FC236}">
                <a16:creationId xmlns:a16="http://schemas.microsoft.com/office/drawing/2014/main" id="{92201287-0B09-4F7E-B760-C4044D4193A2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一条链路覆盖创作、渲染与交付</a:t>
            </a:r>
          </a:p>
        </p:txBody>
      </p:sp>
      <p:sp>
        <p:nvSpPr>
          <p:cNvPr id="5" name="scope-statement">
            <a:extLst>
              <a:ext uri="{FF2B5EF4-FFF2-40B4-BE49-F238E27FC236}">
                <a16:creationId xmlns:a16="http://schemas.microsoft.com/office/drawing/2014/main" id="{C9E93C7D-A359-4CEE-8F45-4A52044C0054}"/>
              </a:ext>
            </a:extLst>
          </p:cNvPr>
          <p:cNvSpPr>
            <a:spLocks noGrp="1"/>
          </p:cNvSpPr>
          <p:nvPr/>
        </p:nvSpPr>
        <p:spPr>
          <a:xfrm>
            <a:off x="571500" y="2190750"/>
            <a:ext cx="3905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同一份内容清单驱动中英文版本，减少多格式之间的语义漂移。</a:t>
            </a:r>
          </a:p>
        </p:txBody>
      </p:sp>
      <p:sp>
        <p:nvSpPr>
          <p:cNvPr id="6" name="scope-marker">
            <a:extLst>
              <a:ext uri="{FF2B5EF4-FFF2-40B4-BE49-F238E27FC236}">
                <a16:creationId xmlns:a16="http://schemas.microsoft.com/office/drawing/2014/main" id="{61A2AFBA-8550-48B1-9062-C6B96575AD66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1047750" cy="76200"/>
          </a:xfrm>
          <a:prstGeom prst="rect">
            <a:avLst/>
          </a:prstGeom>
          <a:solidFill>
            <a:srgbClr val="F6B94A"/>
          </a:solidFill>
          <a:ln w="0">
            <a:noFill/>
            <a:prstDash val="solid"/>
          </a:ln>
        </p:spPr>
      </p:sp>
      <p:sp>
        <p:nvSpPr>
          <p:cNvPr id="7" name="scope-marker-label">
            <a:extLst>
              <a:ext uri="{FF2B5EF4-FFF2-40B4-BE49-F238E27FC236}">
                <a16:creationId xmlns:a16="http://schemas.microsoft.com/office/drawing/2014/main" id="{14F2D1DC-40AD-4500-BB07-AAD61D10EA29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4000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同源 · 双语 · 多格式</a:t>
            </a:r>
          </a:p>
        </p:txBody>
      </p:sp>
      <p:sp>
        <p:nvSpPr>
          <p:cNvPr id="8" name="scope-row-line-1">
            <a:extLst>
              <a:ext uri="{FF2B5EF4-FFF2-40B4-BE49-F238E27FC236}">
                <a16:creationId xmlns:a16="http://schemas.microsoft.com/office/drawing/2014/main" id="{232C5B4B-3282-4BB3-ABAC-AFC711449EFE}"/>
              </a:ext>
            </a:extLst>
          </p:cNvPr>
          <p:cNvSpPr>
            <a:spLocks noGrp="1"/>
          </p:cNvSpPr>
          <p:nvPr/>
        </p:nvSpPr>
        <p:spPr>
          <a:xfrm>
            <a:off x="5143500" y="1924050"/>
            <a:ext cx="6477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9" name="scope-label-1">
            <a:extLst>
              <a:ext uri="{FF2B5EF4-FFF2-40B4-BE49-F238E27FC236}">
                <a16:creationId xmlns:a16="http://schemas.microsoft.com/office/drawing/2014/main" id="{DB496B76-E10E-4E54-85C6-DE363DB638DC}"/>
              </a:ext>
            </a:extLst>
          </p:cNvPr>
          <p:cNvSpPr>
            <a:spLocks noGrp="1"/>
          </p:cNvSpPr>
          <p:nvPr/>
        </p:nvSpPr>
        <p:spPr>
          <a:xfrm>
            <a:off x="5143500" y="20955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原生 PPTX</a:t>
            </a:r>
          </a:p>
        </p:txBody>
      </p:sp>
      <p:sp>
        <p:nvSpPr>
          <p:cNvPr id="10" name="scope-detail-1">
            <a:extLst>
              <a:ext uri="{FF2B5EF4-FFF2-40B4-BE49-F238E27FC236}">
                <a16:creationId xmlns:a16="http://schemas.microsoft.com/office/drawing/2014/main" id="{07A44217-ED78-4344-B6FA-48A2280083FE}"/>
              </a:ext>
            </a:extLst>
          </p:cNvPr>
          <p:cNvSpPr>
            <a:spLocks noGrp="1"/>
          </p:cNvSpPr>
          <p:nvPr/>
        </p:nvSpPr>
        <p:spPr>
          <a:xfrm>
            <a:off x="7096125" y="211455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文本、图表、表格与流程形状保持可编辑</a:t>
            </a:r>
          </a:p>
        </p:txBody>
      </p:sp>
      <p:sp>
        <p:nvSpPr>
          <p:cNvPr id="11" name="scope-status-1">
            <a:extLst>
              <a:ext uri="{FF2B5EF4-FFF2-40B4-BE49-F238E27FC236}">
                <a16:creationId xmlns:a16="http://schemas.microsoft.com/office/drawing/2014/main" id="{65565871-E439-47EC-A82F-F049260058EF}"/>
              </a:ext>
            </a:extLst>
          </p:cNvPr>
          <p:cNvSpPr>
            <a:spLocks noGrp="1"/>
          </p:cNvSpPr>
          <p:nvPr/>
        </p:nvSpPr>
        <p:spPr>
          <a:xfrm>
            <a:off x="10763250" y="21050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2" name="scope-row-line-2">
            <a:extLst>
              <a:ext uri="{FF2B5EF4-FFF2-40B4-BE49-F238E27FC236}">
                <a16:creationId xmlns:a16="http://schemas.microsoft.com/office/drawing/2014/main" id="{01B3E39F-A6AE-4D83-9BCC-5DE3B4498A6F}"/>
              </a:ext>
            </a:extLst>
          </p:cNvPr>
          <p:cNvSpPr>
            <a:spLocks noGrp="1"/>
          </p:cNvSpPr>
          <p:nvPr/>
        </p:nvSpPr>
        <p:spPr>
          <a:xfrm>
            <a:off x="5143500" y="2905125"/>
            <a:ext cx="6477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13" name="scope-label-2">
            <a:extLst>
              <a:ext uri="{FF2B5EF4-FFF2-40B4-BE49-F238E27FC236}">
                <a16:creationId xmlns:a16="http://schemas.microsoft.com/office/drawing/2014/main" id="{8F2A2FC4-28AF-4A77-AAA7-CDA0A9A8F084}"/>
              </a:ext>
            </a:extLst>
          </p:cNvPr>
          <p:cNvSpPr>
            <a:spLocks noGrp="1"/>
          </p:cNvSpPr>
          <p:nvPr/>
        </p:nvSpPr>
        <p:spPr>
          <a:xfrm>
            <a:off x="5143500" y="307657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桌面渲染</a:t>
            </a:r>
          </a:p>
        </p:txBody>
      </p:sp>
      <p:sp>
        <p:nvSpPr>
          <p:cNvPr id="14" name="scope-detail-2">
            <a:extLst>
              <a:ext uri="{FF2B5EF4-FFF2-40B4-BE49-F238E27FC236}">
                <a16:creationId xmlns:a16="http://schemas.microsoft.com/office/drawing/2014/main" id="{88BCE6B2-0801-4278-8867-370B3E6F1606}"/>
              </a:ext>
            </a:extLst>
          </p:cNvPr>
          <p:cNvSpPr>
            <a:spLocks noGrp="1"/>
          </p:cNvSpPr>
          <p:nvPr/>
        </p:nvSpPr>
        <p:spPr>
          <a:xfrm>
            <a:off x="7096125" y="3095625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PowerPoint 逐页输出 PNG 与 PDF</a:t>
            </a:r>
          </a:p>
        </p:txBody>
      </p:sp>
      <p:sp>
        <p:nvSpPr>
          <p:cNvPr id="15" name="scope-status-2">
            <a:extLst>
              <a:ext uri="{FF2B5EF4-FFF2-40B4-BE49-F238E27FC236}">
                <a16:creationId xmlns:a16="http://schemas.microsoft.com/office/drawing/2014/main" id="{01BECF20-C4C3-4262-9F35-4B10B3459570}"/>
              </a:ext>
            </a:extLst>
          </p:cNvPr>
          <p:cNvSpPr>
            <a:spLocks noGrp="1"/>
          </p:cNvSpPr>
          <p:nvPr/>
        </p:nvSpPr>
        <p:spPr>
          <a:xfrm>
            <a:off x="10763250" y="30861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6" name="scope-row-line-3">
            <a:extLst>
              <a:ext uri="{FF2B5EF4-FFF2-40B4-BE49-F238E27FC236}">
                <a16:creationId xmlns:a16="http://schemas.microsoft.com/office/drawing/2014/main" id="{F91DD832-7BB2-4DAE-B3F9-2C32E62713FB}"/>
              </a:ext>
            </a:extLst>
          </p:cNvPr>
          <p:cNvSpPr>
            <a:spLocks noGrp="1"/>
          </p:cNvSpPr>
          <p:nvPr/>
        </p:nvSpPr>
        <p:spPr>
          <a:xfrm>
            <a:off x="5143500" y="3886200"/>
            <a:ext cx="6477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17" name="scope-label-3">
            <a:extLst>
              <a:ext uri="{FF2B5EF4-FFF2-40B4-BE49-F238E27FC236}">
                <a16:creationId xmlns:a16="http://schemas.microsoft.com/office/drawing/2014/main" id="{75A30A71-9859-4C83-9AFC-0465A65E7D83}"/>
              </a:ext>
            </a:extLst>
          </p:cNvPr>
          <p:cNvSpPr>
            <a:spLocks noGrp="1"/>
          </p:cNvSpPr>
          <p:nvPr/>
        </p:nvSpPr>
        <p:spPr>
          <a:xfrm>
            <a:off x="5143500" y="40576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浏览器演示</a:t>
            </a:r>
          </a:p>
        </p:txBody>
      </p:sp>
      <p:sp>
        <p:nvSpPr>
          <p:cNvPr id="18" name="scope-detail-3">
            <a:extLst>
              <a:ext uri="{FF2B5EF4-FFF2-40B4-BE49-F238E27FC236}">
                <a16:creationId xmlns:a16="http://schemas.microsoft.com/office/drawing/2014/main" id="{29C0E64E-14F5-4973-BB96-DFF7C1C24FDF}"/>
              </a:ext>
            </a:extLst>
          </p:cNvPr>
          <p:cNvSpPr>
            <a:spLocks noGrp="1"/>
          </p:cNvSpPr>
          <p:nvPr/>
        </p:nvSpPr>
        <p:spPr>
          <a:xfrm>
            <a:off x="7096125" y="40767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离线 HTML、键盘导航与打印样式</a:t>
            </a:r>
          </a:p>
        </p:txBody>
      </p:sp>
      <p:sp>
        <p:nvSpPr>
          <p:cNvPr id="19" name="scope-status-3">
            <a:extLst>
              <a:ext uri="{FF2B5EF4-FFF2-40B4-BE49-F238E27FC236}">
                <a16:creationId xmlns:a16="http://schemas.microsoft.com/office/drawing/2014/main" id="{82D497CA-3C8B-4582-870C-2826D1D0276A}"/>
              </a:ext>
            </a:extLst>
          </p:cNvPr>
          <p:cNvSpPr>
            <a:spLocks noGrp="1"/>
          </p:cNvSpPr>
          <p:nvPr/>
        </p:nvSpPr>
        <p:spPr>
          <a:xfrm>
            <a:off x="10763250" y="406717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0" name="scope-row-line-4">
            <a:extLst>
              <a:ext uri="{FF2B5EF4-FFF2-40B4-BE49-F238E27FC236}">
                <a16:creationId xmlns:a16="http://schemas.microsoft.com/office/drawing/2014/main" id="{1A49F4C1-2B9B-42F3-860D-151C6ECF8DFD}"/>
              </a:ext>
            </a:extLst>
          </p:cNvPr>
          <p:cNvSpPr>
            <a:spLocks noGrp="1"/>
          </p:cNvSpPr>
          <p:nvPr/>
        </p:nvSpPr>
        <p:spPr>
          <a:xfrm>
            <a:off x="5143500" y="4867275"/>
            <a:ext cx="6477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21" name="scope-label-4">
            <a:extLst>
              <a:ext uri="{FF2B5EF4-FFF2-40B4-BE49-F238E27FC236}">
                <a16:creationId xmlns:a16="http://schemas.microsoft.com/office/drawing/2014/main" id="{31316192-4305-43F2-8FA5-86A1F4E28BF2}"/>
              </a:ext>
            </a:extLst>
          </p:cNvPr>
          <p:cNvSpPr>
            <a:spLocks noGrp="1"/>
          </p:cNvSpPr>
          <p:nvPr/>
        </p:nvSpPr>
        <p:spPr>
          <a:xfrm>
            <a:off x="5143500" y="503872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AI 主视觉</a:t>
            </a:r>
          </a:p>
        </p:txBody>
      </p:sp>
      <p:sp>
        <p:nvSpPr>
          <p:cNvPr id="22" name="scope-detail-4">
            <a:extLst>
              <a:ext uri="{FF2B5EF4-FFF2-40B4-BE49-F238E27FC236}">
                <a16:creationId xmlns:a16="http://schemas.microsoft.com/office/drawing/2014/main" id="{EA3E8277-0981-473E-972B-56AA7BC9E264}"/>
              </a:ext>
            </a:extLst>
          </p:cNvPr>
          <p:cNvSpPr>
            <a:spLocks noGrp="1"/>
          </p:cNvSpPr>
          <p:nvPr/>
        </p:nvSpPr>
        <p:spPr>
          <a:xfrm>
            <a:off x="7096125" y="5057775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实际生成、检查、嵌入与裁切验收</a:t>
            </a:r>
          </a:p>
        </p:txBody>
      </p:sp>
      <p:sp>
        <p:nvSpPr>
          <p:cNvPr id="23" name="scope-status-4">
            <a:extLst>
              <a:ext uri="{FF2B5EF4-FFF2-40B4-BE49-F238E27FC236}">
                <a16:creationId xmlns:a16="http://schemas.microsoft.com/office/drawing/2014/main" id="{5AF4CF50-8B29-42EC-B22D-C3DB1F830922}"/>
              </a:ext>
            </a:extLst>
          </p:cNvPr>
          <p:cNvSpPr>
            <a:spLocks noGrp="1"/>
          </p:cNvSpPr>
          <p:nvPr/>
        </p:nvSpPr>
        <p:spPr>
          <a:xfrm>
            <a:off x="10763250" y="504825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4" name="scope-row-line-end">
            <a:extLst>
              <a:ext uri="{FF2B5EF4-FFF2-40B4-BE49-F238E27FC236}">
                <a16:creationId xmlns:a16="http://schemas.microsoft.com/office/drawing/2014/main" id="{599E3278-B184-4461-95CA-27EA17567FC5}"/>
              </a:ext>
            </a:extLst>
          </p:cNvPr>
          <p:cNvSpPr>
            <a:spLocks noGrp="1"/>
          </p:cNvSpPr>
          <p:nvPr/>
        </p:nvSpPr>
        <p:spPr>
          <a:xfrm>
            <a:off x="5143500" y="5848350"/>
            <a:ext cx="6477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1858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-benchmark">
            <a:extLst>
              <a:ext uri="{FF2B5EF4-FFF2-40B4-BE49-F238E27FC236}">
                <a16:creationId xmlns:a16="http://schemas.microsoft.com/office/drawing/2014/main" id="{E03372E4-37C8-4E6D-9488-58546106C246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02 / 原生对象</a:t>
            </a:r>
          </a:p>
        </p:txBody>
      </p:sp>
      <p:sp>
        <p:nvSpPr>
          <p:cNvPr id="2" name="page-benchmark">
            <a:extLst>
              <a:ext uri="{FF2B5EF4-FFF2-40B4-BE49-F238E27FC236}">
                <a16:creationId xmlns:a16="http://schemas.microsoft.com/office/drawing/2014/main" id="{630B63AE-A926-4F9B-A761-3AB89240EEED}"/>
              </a:ext>
            </a:extLst>
          </p:cNvPr>
          <p:cNvSpPr>
            <a:spLocks noGrp="1"/>
          </p:cNvSpPr>
          <p:nvPr/>
        </p:nvSpPr>
        <p:spPr>
          <a:xfrm>
            <a:off x="10668000" y="4191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03 / 05</a:t>
            </a:r>
          </a:p>
        </p:txBody>
      </p:sp>
      <p:sp>
        <p:nvSpPr>
          <p:cNvPr id="3" name="top-rule-benchmark">
            <a:extLst>
              <a:ext uri="{FF2B5EF4-FFF2-40B4-BE49-F238E27FC236}">
                <a16:creationId xmlns:a16="http://schemas.microsoft.com/office/drawing/2014/main" id="{41DEAB3B-7F19-480C-BCC1-4497B61725B7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1049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4" name="benchmark-title">
            <a:extLst>
              <a:ext uri="{FF2B5EF4-FFF2-40B4-BE49-F238E27FC236}">
                <a16:creationId xmlns:a16="http://schemas.microsoft.com/office/drawing/2014/main" id="{7A6859F8-DA9A-4257-BE88-D93C7DAE16B6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9906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关键内容保持结构化与可复用</a:t>
            </a:r>
          </a:p>
        </p:txBody>
      </p:sp>
      <p:sp>
        <p:nvSpPr>
          <p:cNvPr id="5" name="benchmark-statement">
            <a:extLst>
              <a:ext uri="{FF2B5EF4-FFF2-40B4-BE49-F238E27FC236}">
                <a16:creationId xmlns:a16="http://schemas.microsoft.com/office/drawing/2014/main" id="{9E92F28A-97E9-47BA-B0B8-EE4867FCE0A2}"/>
              </a:ext>
            </a:extLst>
          </p:cNvPr>
          <p:cNvSpPr>
            <a:spLocks noGrp="1"/>
          </p:cNvSpPr>
          <p:nvPr/>
        </p:nvSpPr>
        <p:spPr>
          <a:xfrm>
            <a:off x="571500" y="1847850"/>
            <a:ext cx="1000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图表与表格不是截图；所有分值均为合成验收数据，用于验证双语一致性。</a:t>
            </a:r>
          </a:p>
        </p:txBody>
      </p:sp>
      <p:graphicFrame>
        <p:nvGraphicFramePr>
          <p:cNvPr id="16" name="benchmark-chart"/>
          <p:cNvGraphicFramePr/>
          <p:nvPr/>
        </p:nvGraphicFramePr>
        <p:xfrm>
          <a:off x="571500" y="2571750"/>
          <a:ext cx="75247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benchmark-side-rule">
            <a:extLst>
              <a:ext uri="{FF2B5EF4-FFF2-40B4-BE49-F238E27FC236}">
                <a16:creationId xmlns:a16="http://schemas.microsoft.com/office/drawing/2014/main" id="{8CA7DD09-8461-49D8-A0BB-4603B63DEA3A}"/>
              </a:ext>
            </a:extLst>
          </p:cNvPr>
          <p:cNvSpPr>
            <a:spLocks noGrp="1"/>
          </p:cNvSpPr>
          <p:nvPr/>
        </p:nvSpPr>
        <p:spPr>
          <a:xfrm>
            <a:off x="8572500" y="2667000"/>
            <a:ext cx="9525" cy="2952750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8" name="benchmark-big-number">
            <a:extLst>
              <a:ext uri="{FF2B5EF4-FFF2-40B4-BE49-F238E27FC236}">
                <a16:creationId xmlns:a16="http://schemas.microsoft.com/office/drawing/2014/main" id="{2C365D19-72DE-439A-98CA-39066D2E2780}"/>
              </a:ext>
            </a:extLst>
          </p:cNvPr>
          <p:cNvSpPr>
            <a:spLocks noGrp="1"/>
          </p:cNvSpPr>
          <p:nvPr/>
        </p:nvSpPr>
        <p:spPr>
          <a:xfrm>
            <a:off x="9048750" y="2781300"/>
            <a:ext cx="2000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600" b="1">
                <a:solidFill>
                  <a:srgbClr val="F6B94A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6B94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benchmark-callout">
            <a:extLst>
              <a:ext uri="{FF2B5EF4-FFF2-40B4-BE49-F238E27FC236}">
                <a16:creationId xmlns:a16="http://schemas.microsoft.com/office/drawing/2014/main" id="{77CC7E99-4240-4F4F-9217-C2AF49A8783F}"/>
              </a:ext>
            </a:extLst>
          </p:cNvPr>
          <p:cNvSpPr>
            <a:spLocks noGrp="1"/>
          </p:cNvSpPr>
          <p:nvPr/>
        </p:nvSpPr>
        <p:spPr>
          <a:xfrm>
            <a:off x="9048750" y="40005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五类内容共享同一数据源</a:t>
            </a:r>
          </a:p>
        </p:txBody>
      </p:sp>
      <p:sp>
        <p:nvSpPr>
          <p:cNvPr id="10" name="benchmark-source">
            <a:extLst>
              <a:ext uri="{FF2B5EF4-FFF2-40B4-BE49-F238E27FC236}">
                <a16:creationId xmlns:a16="http://schemas.microsoft.com/office/drawing/2014/main" id="{C31AAC27-1039-491C-95B6-B777E524381D}"/>
              </a:ext>
            </a:extLst>
          </p:cNvPr>
          <p:cNvSpPr>
            <a:spLocks noGrp="1"/>
          </p:cNvSpPr>
          <p:nvPr/>
        </p:nvSpPr>
        <p:spPr>
          <a:xfrm>
            <a:off x="9048750" y="504825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合成验收数据</a:t>
            </a:r>
          </a:p>
          <a:p>
            <a:pPr algn="l">
              <a:def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同一 JSON 清单</a:t>
            </a:r>
          </a:p>
        </p:txBody>
      </p:sp>
    </p:spTree>
    <p:extLst>
      <p:ext uri="{BB962C8B-B14F-4D97-AF65-F5344CB8AC3E}">
        <p14:creationId xmlns:p14="http://schemas.microsoft.com/office/powerpoint/2010/main" val="32860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-pipeline">
            <a:extLst>
              <a:ext uri="{FF2B5EF4-FFF2-40B4-BE49-F238E27FC236}">
                <a16:creationId xmlns:a16="http://schemas.microsoft.com/office/drawing/2014/main" id="{22D7AE8B-FDED-4B8D-84EE-4657072CFA49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03 / 交付链路</a:t>
            </a:r>
          </a:p>
        </p:txBody>
      </p:sp>
      <p:sp>
        <p:nvSpPr>
          <p:cNvPr id="2" name="page-pipeline">
            <a:extLst>
              <a:ext uri="{FF2B5EF4-FFF2-40B4-BE49-F238E27FC236}">
                <a16:creationId xmlns:a16="http://schemas.microsoft.com/office/drawing/2014/main" id="{C17B1FC2-78D1-4978-BB1E-2FA9183B8EDC}"/>
              </a:ext>
            </a:extLst>
          </p:cNvPr>
          <p:cNvSpPr>
            <a:spLocks noGrp="1"/>
          </p:cNvSpPr>
          <p:nvPr/>
        </p:nvSpPr>
        <p:spPr>
          <a:xfrm>
            <a:off x="10668000" y="4191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04 / 05</a:t>
            </a:r>
          </a:p>
        </p:txBody>
      </p:sp>
      <p:sp>
        <p:nvSpPr>
          <p:cNvPr id="3" name="top-rule-pipeline">
            <a:extLst>
              <a:ext uri="{FF2B5EF4-FFF2-40B4-BE49-F238E27FC236}">
                <a16:creationId xmlns:a16="http://schemas.microsoft.com/office/drawing/2014/main" id="{0BA5F6B0-757F-4EA9-AB97-629729178231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1049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4" name="pipeline-title">
            <a:extLst>
              <a:ext uri="{FF2B5EF4-FFF2-40B4-BE49-F238E27FC236}">
                <a16:creationId xmlns:a16="http://schemas.microsoft.com/office/drawing/2014/main" id="{AD01CD09-0816-451B-A7FB-3123A91D51ED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1009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每一种格式都有独立停止条件</a:t>
            </a:r>
          </a:p>
        </p:txBody>
      </p:sp>
      <p:sp>
        <p:nvSpPr>
          <p:cNvPr id="5" name="pipeline-statement">
            <a:extLst>
              <a:ext uri="{FF2B5EF4-FFF2-40B4-BE49-F238E27FC236}">
                <a16:creationId xmlns:a16="http://schemas.microsoft.com/office/drawing/2014/main" id="{626FF6F5-5E96-4354-BB59-3D47C14EB962}"/>
              </a:ext>
            </a:extLst>
          </p:cNvPr>
          <p:cNvSpPr>
            <a:spLocks noGrp="1"/>
          </p:cNvSpPr>
          <p:nvPr/>
        </p:nvSpPr>
        <p:spPr>
          <a:xfrm>
            <a:off x="571500" y="186690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构建、渲染、检查、修复、复验形成闭环；任何未执行项都不会被标记为 PASS。</a:t>
            </a:r>
          </a:p>
        </p:txBody>
      </p:sp>
      <p:sp>
        <p:nvSpPr>
          <p:cNvPr id="6" name="pipeline-rail">
            <a:extLst>
              <a:ext uri="{FF2B5EF4-FFF2-40B4-BE49-F238E27FC236}">
                <a16:creationId xmlns:a16="http://schemas.microsoft.com/office/drawing/2014/main" id="{B557839A-9F61-49F1-A6F6-789683267FD9}"/>
              </a:ext>
            </a:extLst>
          </p:cNvPr>
          <p:cNvSpPr>
            <a:spLocks noGrp="1"/>
          </p:cNvSpPr>
          <p:nvPr/>
        </p:nvSpPr>
        <p:spPr>
          <a:xfrm>
            <a:off x="1047750" y="3105150"/>
            <a:ext cx="9906000" cy="9525"/>
          </a:xfrm>
          <a:prstGeom prst="line">
            <a:avLst/>
          </a:prstGeom>
          <a:noFill/>
          <a:ln w="28575">
            <a:solidFill>
              <a:srgbClr val="27324A"/>
            </a:solidFill>
            <a:prstDash val="solid"/>
          </a:ln>
        </p:spPr>
      </p:sp>
      <p:sp>
        <p:nvSpPr>
          <p:cNvPr id="7" name="pipeline-step-1">
            <a:extLst>
              <a:ext uri="{FF2B5EF4-FFF2-40B4-BE49-F238E27FC236}">
                <a16:creationId xmlns:a16="http://schemas.microsoft.com/office/drawing/2014/main" id="{CC11700B-16EF-433E-B741-538134B014CB}"/>
              </a:ext>
            </a:extLst>
          </p:cNvPr>
          <p:cNvSpPr>
            <a:spLocks noGrp="1"/>
          </p:cNvSpPr>
          <p:nvPr/>
        </p:nvSpPr>
        <p:spPr>
          <a:xfrm>
            <a:off x="1143000" y="28194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 w="0">
            <a:noFill/>
            <a:prstDash val="solid"/>
          </a:ln>
        </p:spPr>
      </p:sp>
      <p:sp>
        <p:nvSpPr>
          <p:cNvPr id="8" name="pipeline-step-number-1">
            <a:extLst>
              <a:ext uri="{FF2B5EF4-FFF2-40B4-BE49-F238E27FC236}">
                <a16:creationId xmlns:a16="http://schemas.microsoft.com/office/drawing/2014/main" id="{1F52B1BE-BCBB-40C8-8714-EBFD414A04DB}"/>
              </a:ext>
            </a:extLst>
          </p:cNvPr>
          <p:cNvSpPr>
            <a:spLocks noGrp="1"/>
          </p:cNvSpPr>
          <p:nvPr/>
        </p:nvSpPr>
        <p:spPr>
          <a:xfrm>
            <a:off x="1143000" y="2895600"/>
            <a:ext cx="590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pipeline-step-label-1">
            <a:extLst>
              <a:ext uri="{FF2B5EF4-FFF2-40B4-BE49-F238E27FC236}">
                <a16:creationId xmlns:a16="http://schemas.microsoft.com/office/drawing/2014/main" id="{78C8E775-C34F-4803-84C6-11A7DD9DDE7F}"/>
              </a:ext>
            </a:extLst>
          </p:cNvPr>
          <p:cNvSpPr>
            <a:spLocks noGrp="1"/>
          </p:cNvSpPr>
          <p:nvPr/>
        </p:nvSpPr>
        <p:spPr>
          <a:xfrm>
            <a:off x="571500" y="35242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共享清单</a:t>
            </a:r>
          </a:p>
        </p:txBody>
      </p:sp>
      <p:sp>
        <p:nvSpPr>
          <p:cNvPr id="10" name="pipeline-step-2">
            <a:extLst>
              <a:ext uri="{FF2B5EF4-FFF2-40B4-BE49-F238E27FC236}">
                <a16:creationId xmlns:a16="http://schemas.microsoft.com/office/drawing/2014/main" id="{1C3EEF96-1799-47EC-9536-DF0A3FA826BC}"/>
              </a:ext>
            </a:extLst>
          </p:cNvPr>
          <p:cNvSpPr>
            <a:spLocks noGrp="1"/>
          </p:cNvSpPr>
          <p:nvPr/>
        </p:nvSpPr>
        <p:spPr>
          <a:xfrm>
            <a:off x="3905250" y="28194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 w="0">
            <a:noFill/>
            <a:prstDash val="solid"/>
          </a:ln>
        </p:spPr>
      </p:sp>
      <p:sp>
        <p:nvSpPr>
          <p:cNvPr id="11" name="pipeline-step-number-2">
            <a:extLst>
              <a:ext uri="{FF2B5EF4-FFF2-40B4-BE49-F238E27FC236}">
                <a16:creationId xmlns:a16="http://schemas.microsoft.com/office/drawing/2014/main" id="{C88827D7-4783-4672-AC2B-BF3350963948}"/>
              </a:ext>
            </a:extLst>
          </p:cNvPr>
          <p:cNvSpPr>
            <a:spLocks noGrp="1"/>
          </p:cNvSpPr>
          <p:nvPr/>
        </p:nvSpPr>
        <p:spPr>
          <a:xfrm>
            <a:off x="3905250" y="2895600"/>
            <a:ext cx="590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pipeline-step-label-2">
            <a:extLst>
              <a:ext uri="{FF2B5EF4-FFF2-40B4-BE49-F238E27FC236}">
                <a16:creationId xmlns:a16="http://schemas.microsoft.com/office/drawing/2014/main" id="{F04ABE49-C6B8-45E4-8F7B-6F001A31740B}"/>
              </a:ext>
            </a:extLst>
          </p:cNvPr>
          <p:cNvSpPr>
            <a:spLocks noGrp="1"/>
          </p:cNvSpPr>
          <p:nvPr/>
        </p:nvSpPr>
        <p:spPr>
          <a:xfrm>
            <a:off x="3333750" y="35242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双语构建</a:t>
            </a:r>
          </a:p>
        </p:txBody>
      </p:sp>
      <p:sp>
        <p:nvSpPr>
          <p:cNvPr id="13" name="pipeline-step-3">
            <a:extLst>
              <a:ext uri="{FF2B5EF4-FFF2-40B4-BE49-F238E27FC236}">
                <a16:creationId xmlns:a16="http://schemas.microsoft.com/office/drawing/2014/main" id="{2B0C1925-8B06-4A99-B878-65779CB0F629}"/>
              </a:ext>
            </a:extLst>
          </p:cNvPr>
          <p:cNvSpPr>
            <a:spLocks noGrp="1"/>
          </p:cNvSpPr>
          <p:nvPr/>
        </p:nvSpPr>
        <p:spPr>
          <a:xfrm>
            <a:off x="6667500" y="28194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 w="0">
            <a:noFill/>
            <a:prstDash val="solid"/>
          </a:ln>
        </p:spPr>
      </p:sp>
      <p:sp>
        <p:nvSpPr>
          <p:cNvPr id="14" name="pipeline-step-number-3">
            <a:extLst>
              <a:ext uri="{FF2B5EF4-FFF2-40B4-BE49-F238E27FC236}">
                <a16:creationId xmlns:a16="http://schemas.microsoft.com/office/drawing/2014/main" id="{1E412CFB-0646-4A19-A529-7063350FEC23}"/>
              </a:ext>
            </a:extLst>
          </p:cNvPr>
          <p:cNvSpPr>
            <a:spLocks noGrp="1"/>
          </p:cNvSpPr>
          <p:nvPr/>
        </p:nvSpPr>
        <p:spPr>
          <a:xfrm>
            <a:off x="6667500" y="2895600"/>
            <a:ext cx="590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pipeline-step-label-3">
            <a:extLst>
              <a:ext uri="{FF2B5EF4-FFF2-40B4-BE49-F238E27FC236}">
                <a16:creationId xmlns:a16="http://schemas.microsoft.com/office/drawing/2014/main" id="{7B44DBD9-E97F-426F-94A2-E3879A8398AD}"/>
              </a:ext>
            </a:extLst>
          </p:cNvPr>
          <p:cNvSpPr>
            <a:spLocks noGrp="1"/>
          </p:cNvSpPr>
          <p:nvPr/>
        </p:nvSpPr>
        <p:spPr>
          <a:xfrm>
            <a:off x="6096000" y="35242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双引擎渲染</a:t>
            </a:r>
          </a:p>
        </p:txBody>
      </p:sp>
      <p:sp>
        <p:nvSpPr>
          <p:cNvPr id="16" name="pipeline-step-4">
            <a:extLst>
              <a:ext uri="{FF2B5EF4-FFF2-40B4-BE49-F238E27FC236}">
                <a16:creationId xmlns:a16="http://schemas.microsoft.com/office/drawing/2014/main" id="{ACEE5D33-B1FD-4F53-B4ED-F05C411EB025}"/>
              </a:ext>
            </a:extLst>
          </p:cNvPr>
          <p:cNvSpPr>
            <a:spLocks noGrp="1"/>
          </p:cNvSpPr>
          <p:nvPr/>
        </p:nvSpPr>
        <p:spPr>
          <a:xfrm>
            <a:off x="9429750" y="28194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6B94A"/>
          </a:solidFill>
          <a:ln w="0">
            <a:noFill/>
            <a:prstDash val="solid"/>
          </a:ln>
        </p:spPr>
      </p:sp>
      <p:sp>
        <p:nvSpPr>
          <p:cNvPr id="17" name="pipeline-step-number-4">
            <a:extLst>
              <a:ext uri="{FF2B5EF4-FFF2-40B4-BE49-F238E27FC236}">
                <a16:creationId xmlns:a16="http://schemas.microsoft.com/office/drawing/2014/main" id="{12F51F54-B5DB-4B78-85E1-34EA67854F78}"/>
              </a:ext>
            </a:extLst>
          </p:cNvPr>
          <p:cNvSpPr>
            <a:spLocks noGrp="1"/>
          </p:cNvSpPr>
          <p:nvPr/>
        </p:nvSpPr>
        <p:spPr>
          <a:xfrm>
            <a:off x="9429750" y="2895600"/>
            <a:ext cx="590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02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pipeline-step-label-4">
            <a:extLst>
              <a:ext uri="{FF2B5EF4-FFF2-40B4-BE49-F238E27FC236}">
                <a16:creationId xmlns:a16="http://schemas.microsoft.com/office/drawing/2014/main" id="{A216E7C1-ADA7-4022-9F23-C54D934C9257}"/>
              </a:ext>
            </a:extLst>
          </p:cNvPr>
          <p:cNvSpPr>
            <a:spLocks noGrp="1"/>
          </p:cNvSpPr>
          <p:nvPr/>
        </p:nvSpPr>
        <p:spPr>
          <a:xfrm>
            <a:off x="8858250" y="35242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最终复验</a:t>
            </a:r>
          </a:p>
        </p:txBody>
      </p:sp>
      <p:graphicFrame>
        <p:nvGraphicFramePr>
          <p:cNvPr id="38" name="delivery-table"/>
          <p:cNvGraphicFramePr/>
          <p:nvPr/>
        </p:nvGraphicFramePr>
        <p:xfrm>
          <a:off x="571500" y="4267200"/>
          <a:ext cx="11049000" cy="2000250"/>
        </p:xfrm>
        <a:graphic>
          <a:graphicData uri="http://schemas.openxmlformats.org/drawingml/2006/table">
            <a:tbl>
              <a:tblPr/>
              <a:tblGrid>
                <a:gridCol w="291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>
                    <a:solidFill>
                      <a:srgbClr val="4FD1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>
                    <a:solidFill>
                      <a:srgbClr val="4FD1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</a:t>
                      </a:r>
                    </a:p>
                  </a:txBody>
                  <a:tcPr>
                    <a:solidFill>
                      <a:srgbClr val="4FD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可编辑 PPTX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原生文本、图表、表格与形状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FD1C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PowerPoint PDF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桌面渲染与五页一致性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FD1C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单文件 HTML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离线打开与键盘导航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FD1C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>
                    <a:solidFill>
                      <a:srgbClr val="0B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PDF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8FA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Playwright 打印与五页一致性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FD1C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898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sult-verdict">
            <a:extLst>
              <a:ext uri="{FF2B5EF4-FFF2-40B4-BE49-F238E27FC236}">
                <a16:creationId xmlns:a16="http://schemas.microsoft.com/office/drawing/2014/main" id="{0775B94C-CE7B-4358-914D-15DB22BDCDCF}"/>
              </a:ext>
            </a:extLst>
          </p:cNvPr>
          <p:cNvSpPr>
            <a:spLocks noGrp="1"/>
          </p:cNvSpPr>
          <p:nvPr/>
        </p:nvSpPr>
        <p:spPr>
          <a:xfrm>
            <a:off x="571500" y="2000250"/>
            <a:ext cx="3714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6600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" name="result-verdict-caption">
            <a:extLst>
              <a:ext uri="{FF2B5EF4-FFF2-40B4-BE49-F238E27FC236}">
                <a16:creationId xmlns:a16="http://schemas.microsoft.com/office/drawing/2014/main" id="{0D601FC5-BA15-4F7F-802E-B3425ACF2454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F6B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6B94A"/>
                </a:solidFill>
                <a:latin typeface="Microsoft YaHei"/>
                <a:ea typeface="Microsoft YaHei"/>
                <a:cs typeface="Microsoft YaHei"/>
              </a:rPr>
              <a:t>核心生产链路</a:t>
            </a:r>
          </a:p>
        </p:txBody>
      </p:sp>
      <p:sp>
        <p:nvSpPr>
          <p:cNvPr id="3" name="result-divider">
            <a:extLst>
              <a:ext uri="{FF2B5EF4-FFF2-40B4-BE49-F238E27FC236}">
                <a16:creationId xmlns:a16="http://schemas.microsoft.com/office/drawing/2014/main" id="{07B0926F-0DB7-4F00-9A29-061153880114}"/>
              </a:ext>
            </a:extLst>
          </p:cNvPr>
          <p:cNvSpPr>
            <a:spLocks noGrp="1"/>
          </p:cNvSpPr>
          <p:nvPr/>
        </p:nvSpPr>
        <p:spPr>
          <a:xfrm>
            <a:off x="4476750" y="1619250"/>
            <a:ext cx="9525" cy="3810000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4" name="result-title">
            <a:extLst>
              <a:ext uri="{FF2B5EF4-FFF2-40B4-BE49-F238E27FC236}">
                <a16:creationId xmlns:a16="http://schemas.microsoft.com/office/drawing/2014/main" id="{9D410A91-BE2F-40F8-9008-8824BEDFC537}"/>
              </a:ext>
            </a:extLst>
          </p:cNvPr>
          <p:cNvSpPr>
            <a:spLocks noGrp="1"/>
          </p:cNvSpPr>
          <p:nvPr/>
        </p:nvSpPr>
        <p:spPr>
          <a:xfrm>
            <a:off x="5143500" y="1581150"/>
            <a:ext cx="619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静态生产链路可完整验收</a:t>
            </a:r>
          </a:p>
        </p:txBody>
      </p:sp>
      <p:sp>
        <p:nvSpPr>
          <p:cNvPr id="5" name="result-summary">
            <a:extLst>
              <a:ext uri="{FF2B5EF4-FFF2-40B4-BE49-F238E27FC236}">
                <a16:creationId xmlns:a16="http://schemas.microsoft.com/office/drawing/2014/main" id="{EBA9F47A-8837-4E5B-A078-D8AD9833B394}"/>
              </a:ext>
            </a:extLst>
          </p:cNvPr>
          <p:cNvSpPr>
            <a:spLocks noGrp="1"/>
          </p:cNvSpPr>
          <p:nvPr/>
        </p:nvSpPr>
        <p:spPr>
          <a:xfrm>
            <a:off x="5143500" y="2724150"/>
            <a:ext cx="5905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PPTX、PowerPoint PDF、HTML 与 Web PDF 均通过真实生成和逐页检查后，才能进入正式交付。</a:t>
            </a:r>
          </a:p>
        </p:txBody>
      </p:sp>
      <p:sp>
        <p:nvSpPr>
          <p:cNvPr id="6" name="result-rule-1">
            <a:extLst>
              <a:ext uri="{FF2B5EF4-FFF2-40B4-BE49-F238E27FC236}">
                <a16:creationId xmlns:a16="http://schemas.microsoft.com/office/drawing/2014/main" id="{343BABA3-A97B-4B8D-B425-E803A2996EDE}"/>
              </a:ext>
            </a:extLst>
          </p:cNvPr>
          <p:cNvSpPr>
            <a:spLocks noGrp="1"/>
          </p:cNvSpPr>
          <p:nvPr/>
        </p:nvSpPr>
        <p:spPr>
          <a:xfrm>
            <a:off x="5143500" y="4048125"/>
            <a:ext cx="59055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  <p:sp>
        <p:nvSpPr>
          <p:cNvPr id="7" name="result-pass">
            <a:extLst>
              <a:ext uri="{FF2B5EF4-FFF2-40B4-BE49-F238E27FC236}">
                <a16:creationId xmlns:a16="http://schemas.microsoft.com/office/drawing/2014/main" id="{F7A7ABF5-3CAA-47ED-97B9-31A9F93758B2}"/>
              </a:ext>
            </a:extLst>
          </p:cNvPr>
          <p:cNvSpPr>
            <a:spLocks noGrp="1"/>
          </p:cNvSpPr>
          <p:nvPr/>
        </p:nvSpPr>
        <p:spPr>
          <a:xfrm>
            <a:off x="5143500" y="42672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静态内容与交付：PASS</a:t>
            </a:r>
          </a:p>
        </p:txBody>
      </p:sp>
      <p:sp>
        <p:nvSpPr>
          <p:cNvPr id="8" name="result-partial">
            <a:extLst>
              <a:ext uri="{FF2B5EF4-FFF2-40B4-BE49-F238E27FC236}">
                <a16:creationId xmlns:a16="http://schemas.microsoft.com/office/drawing/2014/main" id="{381DD88D-AF45-4DB8-9001-EAA888AC142E}"/>
              </a:ext>
            </a:extLst>
          </p:cNvPr>
          <p:cNvSpPr>
            <a:spLocks noGrp="1"/>
          </p:cNvSpPr>
          <p:nvPr/>
        </p:nvSpPr>
        <p:spPr>
          <a:xfrm>
            <a:off x="5143500" y="4762500"/>
            <a:ext cx="571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6B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B94A"/>
                </a:solidFill>
                <a:latin typeface="Microsoft YaHei"/>
                <a:ea typeface="Microsoft YaHei"/>
                <a:cs typeface="Microsoft YaHei"/>
              </a:rPr>
              <a:t>动画视觉回归：PARTIAL</a:t>
            </a:r>
          </a:p>
        </p:txBody>
      </p:sp>
      <p:sp>
        <p:nvSpPr>
          <p:cNvPr id="9" name="result-detail">
            <a:extLst>
              <a:ext uri="{FF2B5EF4-FFF2-40B4-BE49-F238E27FC236}">
                <a16:creationId xmlns:a16="http://schemas.microsoft.com/office/drawing/2014/main" id="{6640571C-46F9-4D94-AEF3-2D9E84ED3D39}"/>
              </a:ext>
            </a:extLst>
          </p:cNvPr>
          <p:cNvSpPr>
            <a:spLocks noGrp="1"/>
          </p:cNvSpPr>
          <p:nvPr/>
        </p:nvSpPr>
        <p:spPr>
          <a:xfrm>
            <a:off x="5143500" y="5219700"/>
            <a:ext cx="5905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动画序列与放映启动可验证；未录制视频时，不宣称运动视觉回归通过。</a:t>
            </a:r>
          </a:p>
        </p:txBody>
      </p:sp>
      <p:sp>
        <p:nvSpPr>
          <p:cNvPr id="10" name="eyebrow-result">
            <a:extLst>
              <a:ext uri="{FF2B5EF4-FFF2-40B4-BE49-F238E27FC236}">
                <a16:creationId xmlns:a16="http://schemas.microsoft.com/office/drawing/2014/main" id="{42CF93C3-4428-4492-942D-A70869DFB7BE}"/>
              </a:ext>
            </a:extLst>
          </p:cNvPr>
          <p:cNvSpPr>
            <a:spLocks noGrp="1"/>
          </p:cNvSpPr>
          <p:nvPr/>
        </p:nvSpPr>
        <p:spPr>
          <a:xfrm>
            <a:off x="571500" y="4191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D1C5"/>
                </a:solidFill>
                <a:latin typeface="Microsoft YaHei"/>
                <a:ea typeface="Microsoft YaHei"/>
                <a:cs typeface="Microsoft YaHei"/>
              </a:rPr>
              <a:t>04 / 验收结论</a:t>
            </a:r>
          </a:p>
        </p:txBody>
      </p:sp>
      <p:sp>
        <p:nvSpPr>
          <p:cNvPr id="11" name="page-result">
            <a:extLst>
              <a:ext uri="{FF2B5EF4-FFF2-40B4-BE49-F238E27FC236}">
                <a16:creationId xmlns:a16="http://schemas.microsoft.com/office/drawing/2014/main" id="{86FA701C-FF2B-48BE-9C40-F39783E14BDB}"/>
              </a:ext>
            </a:extLst>
          </p:cNvPr>
          <p:cNvSpPr>
            <a:spLocks noGrp="1"/>
          </p:cNvSpPr>
          <p:nvPr/>
        </p:nvSpPr>
        <p:spPr>
          <a:xfrm>
            <a:off x="10668000" y="4191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05 / 05</a:t>
            </a:r>
          </a:p>
        </p:txBody>
      </p:sp>
      <p:sp>
        <p:nvSpPr>
          <p:cNvPr id="12" name="top-rule-result">
            <a:extLst>
              <a:ext uri="{FF2B5EF4-FFF2-40B4-BE49-F238E27FC236}">
                <a16:creationId xmlns:a16="http://schemas.microsoft.com/office/drawing/2014/main" id="{532080D5-CB4B-43D3-9BB2-AF63482521DF}"/>
              </a:ext>
            </a:extLst>
          </p:cNvPr>
          <p:cNvSpPr>
            <a:spLocks noGrp="1"/>
          </p:cNvSpPr>
          <p:nvPr/>
        </p:nvSpPr>
        <p:spPr>
          <a:xfrm>
            <a:off x="571500" y="857250"/>
            <a:ext cx="11049000" cy="9525"/>
          </a:xfrm>
          <a:prstGeom prst="line">
            <a:avLst/>
          </a:prstGeom>
          <a:noFill/>
          <a:ln w="9525">
            <a:solidFill>
              <a:srgbClr val="2732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30817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DocSecurity>0</DocSecurity>
  <PresentationFormat>宽屏</PresentationFormat>
  <Paragraphs>80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Microsoft YaHei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whi ka</cp:lastModifiedBy>
  <cp:revision>1</cp:revision>
  <dcterms:created xsi:type="dcterms:W3CDTF">2026-08-13T09:08:14Z</dcterms:created>
  <dcterms:modified xsi:type="dcterms:W3CDTF">2026-08-13T09:08:39Z</dcterms:modified>
</cp:coreProperties>
</file>