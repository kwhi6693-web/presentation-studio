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188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Acceptance score</c:v>
          </c:tx>
          <c:spPr>
            <a:solidFill>
              <a:srgbClr val="4FD1C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F8FAFC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Text</c:v>
              </c:pt>
              <c:pt idx="1">
                <c:v>Chart</c:v>
              </c:pt>
              <c:pt idx="2">
                <c:v>Table</c:v>
              </c:pt>
              <c:pt idx="3">
                <c:v>Image</c:v>
              </c:pt>
              <c:pt idx="4">
                <c:v>HTML</c:v>
              </c:pt>
            </c:str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95</c:v>
              </c:pt>
              <c:pt idx="2">
                <c:v>93</c:v>
              </c:pt>
              <c:pt idx="3">
                <c:v>90</c:v>
              </c:pt>
              <c:pt idx="4">
                <c:v>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728-4C0A-9A9A-2B4EA57749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27324A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CBD5E1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w="9525">
              <a:solidFill>
                <a:srgbClr val="27324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27324A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CBD5E1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  <c:spPr>
        <a:solidFill>
          <a:srgbClr val="0B1020"/>
        </a:solidFill>
        <a:ln w="0">
          <a:solidFill>
            <a:srgbClr val="0B1020"/>
          </a:solidFill>
          <a:prstDash val="solid"/>
        </a:ln>
      </c:spPr>
    </c:plotArea>
    <c:plotVisOnly val="1"/>
    <c:dispBlanksAs val="zero"/>
    <c:showDLblsOverMax val="1"/>
  </c:chart>
  <c:spPr>
    <a:solidFill>
      <a:srgbClr val="0B1020"/>
    </a:solidFill>
    <a:ln w="0">
      <a:solidFill>
        <a:srgbClr val="0B1020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Hero visual: generated with built-in image_gen for this acceptance sample.</a:t>
            </a:r>
          </a:p>
          <a:p>
            <a:r>
              <a:t>- All benchmark values are synthetic QA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Capability definitions: local acceptance design.</a:t>
            </a:r>
          </a:p>
          <a:p>
            <a:r>
              <a:t>- Status labels are validated at final QA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Chart data: presentation-acceptance-synthetic-benchmark-v1.</a:t>
            </a:r>
          </a:p>
          <a:p>
            <a:r>
              <a:t>- Values are synthetic QA data, not performance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Workflow: user-approved bilingual acceptance design.</a:t>
            </a:r>
          </a:p>
          <a:p>
            <a:r>
              <a:t>- Delivery table is part of the local QA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Final status is populated from local QA records.</a:t>
            </a:r>
          </a:p>
          <a:p>
            <a:r>
              <a:t>- Motion limitation follows the approved acceptance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hero-image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over-left-field">
            <a:extLst>
              <a:ext uri="{FF2B5EF4-FFF2-40B4-BE49-F238E27FC236}">
                <a16:creationId xmlns:a16="http://schemas.microsoft.com/office/drawing/2014/main" id="{D282B2B2-96D9-4441-9E58-DB2CE97451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00750" cy="6858000"/>
          </a:xfrm>
          <a:prstGeom prst="rect">
            <a:avLst/>
          </a:prstGeom>
          <a:solidFill>
            <a:srgbClr val="0B1020"/>
          </a:solidFill>
          <a:ln w="0">
            <a:noFill/>
            <a:prstDash val="solid"/>
          </a:ln>
        </p:spPr>
      </p:sp>
      <p:sp>
        <p:nvSpPr>
          <p:cNvPr id="3" name="cover-accent">
            <a:extLst>
              <a:ext uri="{FF2B5EF4-FFF2-40B4-BE49-F238E27FC236}">
                <a16:creationId xmlns:a16="http://schemas.microsoft.com/office/drawing/2014/main" id="{BD4F7CAF-2C06-4535-8AE1-9A503A396FDB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95250" cy="2476500"/>
          </a:xfrm>
          <a:prstGeom prst="rect">
            <a:avLst/>
          </a:prstGeom>
          <a:solidFill>
            <a:srgbClr val="4FD1C5"/>
          </a:solidFill>
          <a:ln w="0">
            <a:noFill/>
            <a:prstDash val="solid"/>
          </a:ln>
        </p:spPr>
      </p:sp>
      <p:sp>
        <p:nvSpPr>
          <p:cNvPr id="4" name="cover-eyebrow">
            <a:extLst>
              <a:ext uri="{FF2B5EF4-FFF2-40B4-BE49-F238E27FC236}">
                <a16:creationId xmlns:a16="http://schemas.microsoft.com/office/drawing/2014/main" id="{299EA605-0B6D-45D0-ABE6-139A25DB4E49}"/>
              </a:ext>
            </a:extLst>
          </p:cNvPr>
          <p:cNvSpPr>
            <a:spLocks noGrp="1"/>
          </p:cNvSpPr>
          <p:nvPr/>
        </p:nvSpPr>
        <p:spPr>
          <a:xfrm>
            <a:off x="1028700" y="13906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END-TO-END CAPABILITY CHECK</a:t>
            </a:r>
          </a:p>
        </p:txBody>
      </p:sp>
      <p:sp>
        <p:nvSpPr>
          <p:cNvPr id="5" name="cover-title">
            <a:extLst>
              <a:ext uri="{FF2B5EF4-FFF2-40B4-BE49-F238E27FC236}">
                <a16:creationId xmlns:a16="http://schemas.microsoft.com/office/drawing/2014/main" id="{5177BFD3-1C9A-45BB-9585-DBF378764C95}"/>
              </a:ext>
            </a:extLst>
          </p:cNvPr>
          <p:cNvSpPr>
            <a:spLocks noGrp="1"/>
          </p:cNvSpPr>
          <p:nvPr/>
        </p:nvSpPr>
        <p:spPr>
          <a:xfrm>
            <a:off x="1028700" y="1981200"/>
            <a:ext cx="47625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Presentation Capability Acceptance Report</a:t>
            </a: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425A6D33-2EBA-47B8-9CC5-2116E081264D}"/>
              </a:ext>
            </a:extLst>
          </p:cNvPr>
          <p:cNvSpPr>
            <a:spLocks noGrp="1"/>
          </p:cNvSpPr>
          <p:nvPr/>
        </p:nvSpPr>
        <p:spPr>
          <a:xfrm>
            <a:off x="1028700" y="3790950"/>
            <a:ext cx="4572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Bilingual sample · Native editability · Multi-format delivery</a:t>
            </a:r>
          </a:p>
        </p:txBody>
      </p:sp>
      <p:sp>
        <p:nvSpPr>
          <p:cNvPr id="7" name="cover-date">
            <a:extLst>
              <a:ext uri="{FF2B5EF4-FFF2-40B4-BE49-F238E27FC236}">
                <a16:creationId xmlns:a16="http://schemas.microsoft.com/office/drawing/2014/main" id="{2E3D672A-7CDB-405A-911A-010130A14443}"/>
              </a:ext>
            </a:extLst>
          </p:cNvPr>
          <p:cNvSpPr>
            <a:spLocks noGrp="1"/>
          </p:cNvSpPr>
          <p:nvPr/>
        </p:nvSpPr>
        <p:spPr>
          <a:xfrm>
            <a:off x="1028700" y="5886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F6B94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6B94A"/>
                </a:solidFill>
                <a:latin typeface="Arial"/>
                <a:ea typeface="Arial"/>
                <a:cs typeface="Arial"/>
              </a:rPr>
              <a:t>2026.08.13</a:t>
            </a:r>
          </a:p>
        </p:txBody>
      </p:sp>
    </p:spTree>
    <p:extLst>
      <p:ext uri="{BB962C8B-B14F-4D97-AF65-F5344CB8AC3E}">
        <p14:creationId xmlns:p14="http://schemas.microsoft.com/office/powerpoint/2010/main" val="35508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-scope">
            <a:extLst>
              <a:ext uri="{FF2B5EF4-FFF2-40B4-BE49-F238E27FC236}">
                <a16:creationId xmlns:a16="http://schemas.microsoft.com/office/drawing/2014/main" id="{D28A0A7A-1F59-4FD2-9D58-52F281B702C2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01 / ACCEPTANCE SCOPE</a:t>
            </a:r>
          </a:p>
        </p:txBody>
      </p:sp>
      <p:sp>
        <p:nvSpPr>
          <p:cNvPr id="2" name="page-scope">
            <a:extLst>
              <a:ext uri="{FF2B5EF4-FFF2-40B4-BE49-F238E27FC236}">
                <a16:creationId xmlns:a16="http://schemas.microsoft.com/office/drawing/2014/main" id="{1610AEB9-88BE-47F0-BB35-0E95FF785C78}"/>
              </a:ext>
            </a:extLst>
          </p:cNvPr>
          <p:cNvSpPr>
            <a:spLocks noGrp="1"/>
          </p:cNvSpPr>
          <p:nvPr/>
        </p:nvSpPr>
        <p:spPr>
          <a:xfrm>
            <a:off x="10668000" y="4191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02 / 05</a:t>
            </a:r>
          </a:p>
        </p:txBody>
      </p:sp>
      <p:sp>
        <p:nvSpPr>
          <p:cNvPr id="3" name="top-rule-scope">
            <a:extLst>
              <a:ext uri="{FF2B5EF4-FFF2-40B4-BE49-F238E27FC236}">
                <a16:creationId xmlns:a16="http://schemas.microsoft.com/office/drawing/2014/main" id="{7A499EE7-D5AA-4709-B927-47F4507CA73B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1049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4" name="scope-title">
            <a:extLst>
              <a:ext uri="{FF2B5EF4-FFF2-40B4-BE49-F238E27FC236}">
                <a16:creationId xmlns:a16="http://schemas.microsoft.com/office/drawing/2014/main" id="{2499304D-353D-4756-A989-0C0796449856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One pipeline covers creation, rendering, and delivery</a:t>
            </a:r>
          </a:p>
        </p:txBody>
      </p:sp>
      <p:sp>
        <p:nvSpPr>
          <p:cNvPr id="5" name="scope-statement">
            <a:extLst>
              <a:ext uri="{FF2B5EF4-FFF2-40B4-BE49-F238E27FC236}">
                <a16:creationId xmlns:a16="http://schemas.microsoft.com/office/drawing/2014/main" id="{0CD5778B-A6CF-49AE-974D-BEB73DC81E10}"/>
              </a:ext>
            </a:extLst>
          </p:cNvPr>
          <p:cNvSpPr>
            <a:spLocks noGrp="1"/>
          </p:cNvSpPr>
          <p:nvPr/>
        </p:nvSpPr>
        <p:spPr>
          <a:xfrm>
            <a:off x="571500" y="2190750"/>
            <a:ext cx="3905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 shared content manifest drives both language versions and limits semantic drift across formats.</a:t>
            </a:r>
          </a:p>
        </p:txBody>
      </p:sp>
      <p:sp>
        <p:nvSpPr>
          <p:cNvPr id="6" name="scope-marker">
            <a:extLst>
              <a:ext uri="{FF2B5EF4-FFF2-40B4-BE49-F238E27FC236}">
                <a16:creationId xmlns:a16="http://schemas.microsoft.com/office/drawing/2014/main" id="{8C3CB2C7-C36F-40F2-9D06-124C882A1295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1047750" cy="76200"/>
          </a:xfrm>
          <a:prstGeom prst="rect">
            <a:avLst/>
          </a:prstGeom>
          <a:solidFill>
            <a:srgbClr val="F6B94A"/>
          </a:solidFill>
          <a:ln w="0">
            <a:noFill/>
            <a:prstDash val="solid"/>
          </a:ln>
        </p:spPr>
      </p:sp>
      <p:sp>
        <p:nvSpPr>
          <p:cNvPr id="7" name="scope-marker-label">
            <a:extLst>
              <a:ext uri="{FF2B5EF4-FFF2-40B4-BE49-F238E27FC236}">
                <a16:creationId xmlns:a16="http://schemas.microsoft.com/office/drawing/2014/main" id="{C0C245C5-C9B2-4356-A1BA-FF31C53089E3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4000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ONE SOURCE · TWO LANGUAGES · FOUR FORMATS</a:t>
            </a:r>
          </a:p>
        </p:txBody>
      </p:sp>
      <p:sp>
        <p:nvSpPr>
          <p:cNvPr id="8" name="scope-row-line-1">
            <a:extLst>
              <a:ext uri="{FF2B5EF4-FFF2-40B4-BE49-F238E27FC236}">
                <a16:creationId xmlns:a16="http://schemas.microsoft.com/office/drawing/2014/main" id="{7807DA2D-A1B5-43F6-8EF8-239E971B4669}"/>
              </a:ext>
            </a:extLst>
          </p:cNvPr>
          <p:cNvSpPr>
            <a:spLocks noGrp="1"/>
          </p:cNvSpPr>
          <p:nvPr/>
        </p:nvSpPr>
        <p:spPr>
          <a:xfrm>
            <a:off x="5143500" y="1924050"/>
            <a:ext cx="6477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9" name="scope-label-1">
            <a:extLst>
              <a:ext uri="{FF2B5EF4-FFF2-40B4-BE49-F238E27FC236}">
                <a16:creationId xmlns:a16="http://schemas.microsoft.com/office/drawing/2014/main" id="{01580087-4351-443E-B576-16190F10BCD2}"/>
              </a:ext>
            </a:extLst>
          </p:cNvPr>
          <p:cNvSpPr>
            <a:spLocks noGrp="1"/>
          </p:cNvSpPr>
          <p:nvPr/>
        </p:nvSpPr>
        <p:spPr>
          <a:xfrm>
            <a:off x="5143500" y="20955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Native PPTX</a:t>
            </a:r>
          </a:p>
        </p:txBody>
      </p:sp>
      <p:sp>
        <p:nvSpPr>
          <p:cNvPr id="10" name="scope-detail-1">
            <a:extLst>
              <a:ext uri="{FF2B5EF4-FFF2-40B4-BE49-F238E27FC236}">
                <a16:creationId xmlns:a16="http://schemas.microsoft.com/office/drawing/2014/main" id="{66D0125F-21B5-4789-BE9F-80292F129FFC}"/>
              </a:ext>
            </a:extLst>
          </p:cNvPr>
          <p:cNvSpPr>
            <a:spLocks noGrp="1"/>
          </p:cNvSpPr>
          <p:nvPr/>
        </p:nvSpPr>
        <p:spPr>
          <a:xfrm>
            <a:off x="7096125" y="211455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Editable text, chart, table, and process shapes</a:t>
            </a:r>
          </a:p>
        </p:txBody>
      </p:sp>
      <p:sp>
        <p:nvSpPr>
          <p:cNvPr id="11" name="scope-status-1">
            <a:extLst>
              <a:ext uri="{FF2B5EF4-FFF2-40B4-BE49-F238E27FC236}">
                <a16:creationId xmlns:a16="http://schemas.microsoft.com/office/drawing/2014/main" id="{5C3FA59C-36DB-4579-8ED5-8FA26328A282}"/>
              </a:ext>
            </a:extLst>
          </p:cNvPr>
          <p:cNvSpPr>
            <a:spLocks noGrp="1"/>
          </p:cNvSpPr>
          <p:nvPr/>
        </p:nvSpPr>
        <p:spPr>
          <a:xfrm>
            <a:off x="10763250" y="21050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2" name="scope-row-line-2">
            <a:extLst>
              <a:ext uri="{FF2B5EF4-FFF2-40B4-BE49-F238E27FC236}">
                <a16:creationId xmlns:a16="http://schemas.microsoft.com/office/drawing/2014/main" id="{F5C1E880-896B-4E80-A7BE-FAE25CA607C6}"/>
              </a:ext>
            </a:extLst>
          </p:cNvPr>
          <p:cNvSpPr>
            <a:spLocks noGrp="1"/>
          </p:cNvSpPr>
          <p:nvPr/>
        </p:nvSpPr>
        <p:spPr>
          <a:xfrm>
            <a:off x="5143500" y="2905125"/>
            <a:ext cx="6477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13" name="scope-label-2">
            <a:extLst>
              <a:ext uri="{FF2B5EF4-FFF2-40B4-BE49-F238E27FC236}">
                <a16:creationId xmlns:a16="http://schemas.microsoft.com/office/drawing/2014/main" id="{F1D8D775-CD24-486A-B50B-BC52BC2193A0}"/>
              </a:ext>
            </a:extLst>
          </p:cNvPr>
          <p:cNvSpPr>
            <a:spLocks noGrp="1"/>
          </p:cNvSpPr>
          <p:nvPr/>
        </p:nvSpPr>
        <p:spPr>
          <a:xfrm>
            <a:off x="5143500" y="307657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Desktop render</a:t>
            </a:r>
          </a:p>
        </p:txBody>
      </p:sp>
      <p:sp>
        <p:nvSpPr>
          <p:cNvPr id="14" name="scope-detail-2">
            <a:extLst>
              <a:ext uri="{FF2B5EF4-FFF2-40B4-BE49-F238E27FC236}">
                <a16:creationId xmlns:a16="http://schemas.microsoft.com/office/drawing/2014/main" id="{8795AAFC-90CB-465D-A7E5-5A314F3609E4}"/>
              </a:ext>
            </a:extLst>
          </p:cNvPr>
          <p:cNvSpPr>
            <a:spLocks noGrp="1"/>
          </p:cNvSpPr>
          <p:nvPr/>
        </p:nvSpPr>
        <p:spPr>
          <a:xfrm>
            <a:off x="7096125" y="3095625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PowerPoint exports every slide to PNG and PDF</a:t>
            </a:r>
          </a:p>
        </p:txBody>
      </p:sp>
      <p:sp>
        <p:nvSpPr>
          <p:cNvPr id="15" name="scope-status-2">
            <a:extLst>
              <a:ext uri="{FF2B5EF4-FFF2-40B4-BE49-F238E27FC236}">
                <a16:creationId xmlns:a16="http://schemas.microsoft.com/office/drawing/2014/main" id="{98C7B934-A2C7-41FC-B2E9-47A3C222CCB9}"/>
              </a:ext>
            </a:extLst>
          </p:cNvPr>
          <p:cNvSpPr>
            <a:spLocks noGrp="1"/>
          </p:cNvSpPr>
          <p:nvPr/>
        </p:nvSpPr>
        <p:spPr>
          <a:xfrm>
            <a:off x="10763250" y="30861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6" name="scope-row-line-3">
            <a:extLst>
              <a:ext uri="{FF2B5EF4-FFF2-40B4-BE49-F238E27FC236}">
                <a16:creationId xmlns:a16="http://schemas.microsoft.com/office/drawing/2014/main" id="{0FFF21D6-9EA5-4CA5-8471-FF049BC98DD2}"/>
              </a:ext>
            </a:extLst>
          </p:cNvPr>
          <p:cNvSpPr>
            <a:spLocks noGrp="1"/>
          </p:cNvSpPr>
          <p:nvPr/>
        </p:nvSpPr>
        <p:spPr>
          <a:xfrm>
            <a:off x="5143500" y="3886200"/>
            <a:ext cx="6477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17" name="scope-label-3">
            <a:extLst>
              <a:ext uri="{FF2B5EF4-FFF2-40B4-BE49-F238E27FC236}">
                <a16:creationId xmlns:a16="http://schemas.microsoft.com/office/drawing/2014/main" id="{C720A9BF-9160-4733-BA65-A7FCDE5A9F37}"/>
              </a:ext>
            </a:extLst>
          </p:cNvPr>
          <p:cNvSpPr>
            <a:spLocks noGrp="1"/>
          </p:cNvSpPr>
          <p:nvPr/>
        </p:nvSpPr>
        <p:spPr>
          <a:xfrm>
            <a:off x="5143500" y="40576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Browser deck</a:t>
            </a:r>
          </a:p>
        </p:txBody>
      </p:sp>
      <p:sp>
        <p:nvSpPr>
          <p:cNvPr id="18" name="scope-detail-3">
            <a:extLst>
              <a:ext uri="{FF2B5EF4-FFF2-40B4-BE49-F238E27FC236}">
                <a16:creationId xmlns:a16="http://schemas.microsoft.com/office/drawing/2014/main" id="{1C388E81-C1BF-4F8D-923A-75DF397C1813}"/>
              </a:ext>
            </a:extLst>
          </p:cNvPr>
          <p:cNvSpPr>
            <a:spLocks noGrp="1"/>
          </p:cNvSpPr>
          <p:nvPr/>
        </p:nvSpPr>
        <p:spPr>
          <a:xfrm>
            <a:off x="7096125" y="40767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Offline HTML, keyboard navigation, and print CSS</a:t>
            </a:r>
          </a:p>
        </p:txBody>
      </p:sp>
      <p:sp>
        <p:nvSpPr>
          <p:cNvPr id="19" name="scope-status-3">
            <a:extLst>
              <a:ext uri="{FF2B5EF4-FFF2-40B4-BE49-F238E27FC236}">
                <a16:creationId xmlns:a16="http://schemas.microsoft.com/office/drawing/2014/main" id="{06388145-0866-4A71-B7C7-916CC4AD3DE2}"/>
              </a:ext>
            </a:extLst>
          </p:cNvPr>
          <p:cNvSpPr>
            <a:spLocks noGrp="1"/>
          </p:cNvSpPr>
          <p:nvPr/>
        </p:nvSpPr>
        <p:spPr>
          <a:xfrm>
            <a:off x="10763250" y="40671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0" name="scope-row-line-4">
            <a:extLst>
              <a:ext uri="{FF2B5EF4-FFF2-40B4-BE49-F238E27FC236}">
                <a16:creationId xmlns:a16="http://schemas.microsoft.com/office/drawing/2014/main" id="{830A5E80-122F-4FBF-84AA-924C9968552A}"/>
              </a:ext>
            </a:extLst>
          </p:cNvPr>
          <p:cNvSpPr>
            <a:spLocks noGrp="1"/>
          </p:cNvSpPr>
          <p:nvPr/>
        </p:nvSpPr>
        <p:spPr>
          <a:xfrm>
            <a:off x="5143500" y="4867275"/>
            <a:ext cx="6477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21" name="scope-label-4">
            <a:extLst>
              <a:ext uri="{FF2B5EF4-FFF2-40B4-BE49-F238E27FC236}">
                <a16:creationId xmlns:a16="http://schemas.microsoft.com/office/drawing/2014/main" id="{D8184325-D78C-418F-8C37-00487778B562}"/>
              </a:ext>
            </a:extLst>
          </p:cNvPr>
          <p:cNvSpPr>
            <a:spLocks noGrp="1"/>
          </p:cNvSpPr>
          <p:nvPr/>
        </p:nvSpPr>
        <p:spPr>
          <a:xfrm>
            <a:off x="5143500" y="503872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AI hero</a:t>
            </a:r>
          </a:p>
        </p:txBody>
      </p:sp>
      <p:sp>
        <p:nvSpPr>
          <p:cNvPr id="22" name="scope-detail-4">
            <a:extLst>
              <a:ext uri="{FF2B5EF4-FFF2-40B4-BE49-F238E27FC236}">
                <a16:creationId xmlns:a16="http://schemas.microsoft.com/office/drawing/2014/main" id="{FA9CBB7D-EF33-4F6B-B6FA-742953155B89}"/>
              </a:ext>
            </a:extLst>
          </p:cNvPr>
          <p:cNvSpPr>
            <a:spLocks noGrp="1"/>
          </p:cNvSpPr>
          <p:nvPr/>
        </p:nvSpPr>
        <p:spPr>
          <a:xfrm>
            <a:off x="7096125" y="5057775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Generated, inspected, embedded, and crop-checked</a:t>
            </a:r>
          </a:p>
        </p:txBody>
      </p:sp>
      <p:sp>
        <p:nvSpPr>
          <p:cNvPr id="23" name="scope-status-4">
            <a:extLst>
              <a:ext uri="{FF2B5EF4-FFF2-40B4-BE49-F238E27FC236}">
                <a16:creationId xmlns:a16="http://schemas.microsoft.com/office/drawing/2014/main" id="{D85159B3-1242-405F-964E-CE2AAEBB195C}"/>
              </a:ext>
            </a:extLst>
          </p:cNvPr>
          <p:cNvSpPr>
            <a:spLocks noGrp="1"/>
          </p:cNvSpPr>
          <p:nvPr/>
        </p:nvSpPr>
        <p:spPr>
          <a:xfrm>
            <a:off x="10763250" y="504825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4" name="scope-row-line-end">
            <a:extLst>
              <a:ext uri="{FF2B5EF4-FFF2-40B4-BE49-F238E27FC236}">
                <a16:creationId xmlns:a16="http://schemas.microsoft.com/office/drawing/2014/main" id="{EEF05AC6-5A88-494F-A72A-C281F84EA198}"/>
              </a:ext>
            </a:extLst>
          </p:cNvPr>
          <p:cNvSpPr>
            <a:spLocks noGrp="1"/>
          </p:cNvSpPr>
          <p:nvPr/>
        </p:nvSpPr>
        <p:spPr>
          <a:xfrm>
            <a:off x="5143500" y="5848350"/>
            <a:ext cx="6477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2012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-benchmark">
            <a:extLst>
              <a:ext uri="{FF2B5EF4-FFF2-40B4-BE49-F238E27FC236}">
                <a16:creationId xmlns:a16="http://schemas.microsoft.com/office/drawing/2014/main" id="{39916736-0013-47EF-BC5E-24374CD0475C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02 / NATIVE OBJECTS</a:t>
            </a:r>
          </a:p>
        </p:txBody>
      </p:sp>
      <p:sp>
        <p:nvSpPr>
          <p:cNvPr id="2" name="page-benchmark">
            <a:extLst>
              <a:ext uri="{FF2B5EF4-FFF2-40B4-BE49-F238E27FC236}">
                <a16:creationId xmlns:a16="http://schemas.microsoft.com/office/drawing/2014/main" id="{D1EB32CD-03ED-47E1-844B-8B52DE7FC94A}"/>
              </a:ext>
            </a:extLst>
          </p:cNvPr>
          <p:cNvSpPr>
            <a:spLocks noGrp="1"/>
          </p:cNvSpPr>
          <p:nvPr/>
        </p:nvSpPr>
        <p:spPr>
          <a:xfrm>
            <a:off x="10668000" y="4191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03 / 05</a:t>
            </a:r>
          </a:p>
        </p:txBody>
      </p:sp>
      <p:sp>
        <p:nvSpPr>
          <p:cNvPr id="3" name="top-rule-benchmark">
            <a:extLst>
              <a:ext uri="{FF2B5EF4-FFF2-40B4-BE49-F238E27FC236}">
                <a16:creationId xmlns:a16="http://schemas.microsoft.com/office/drawing/2014/main" id="{99833A8E-7502-4F86-A97F-730D6F8C7909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1049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4" name="benchmark-title">
            <a:extLst>
              <a:ext uri="{FF2B5EF4-FFF2-40B4-BE49-F238E27FC236}">
                <a16:creationId xmlns:a16="http://schemas.microsoft.com/office/drawing/2014/main" id="{974C109C-DC8F-4A06-AC83-CB2F5E1FA590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Key content stays structured and reusable</a:t>
            </a:r>
          </a:p>
        </p:txBody>
      </p:sp>
      <p:sp>
        <p:nvSpPr>
          <p:cNvPr id="5" name="benchmark-statement">
            <a:extLst>
              <a:ext uri="{FF2B5EF4-FFF2-40B4-BE49-F238E27FC236}">
                <a16:creationId xmlns:a16="http://schemas.microsoft.com/office/drawing/2014/main" id="{1F8F871C-BE91-408D-AB56-B28C6ADD25EA}"/>
              </a:ext>
            </a:extLst>
          </p:cNvPr>
          <p:cNvSpPr>
            <a:spLocks noGrp="1"/>
          </p:cNvSpPr>
          <p:nvPr/>
        </p:nvSpPr>
        <p:spPr>
          <a:xfrm>
            <a:off x="571500" y="1847850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The chart and table are not screenshots. All scores are synthetic QA data used to verify bilingual parity.</a:t>
            </a:r>
          </a:p>
        </p:txBody>
      </p:sp>
      <p:graphicFrame>
        <p:nvGraphicFramePr>
          <p:cNvPr id="16" name="benchmark-chart"/>
          <p:cNvGraphicFramePr/>
          <p:nvPr/>
        </p:nvGraphicFramePr>
        <p:xfrm>
          <a:off x="571500" y="2571750"/>
          <a:ext cx="75247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benchmark-side-rule">
            <a:extLst>
              <a:ext uri="{FF2B5EF4-FFF2-40B4-BE49-F238E27FC236}">
                <a16:creationId xmlns:a16="http://schemas.microsoft.com/office/drawing/2014/main" id="{8B02ED2D-256F-4ED0-91A4-6A34FD818A58}"/>
              </a:ext>
            </a:extLst>
          </p:cNvPr>
          <p:cNvSpPr>
            <a:spLocks noGrp="1"/>
          </p:cNvSpPr>
          <p:nvPr/>
        </p:nvSpPr>
        <p:spPr>
          <a:xfrm>
            <a:off x="8572500" y="2667000"/>
            <a:ext cx="9525" cy="2952750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8" name="benchmark-big-number">
            <a:extLst>
              <a:ext uri="{FF2B5EF4-FFF2-40B4-BE49-F238E27FC236}">
                <a16:creationId xmlns:a16="http://schemas.microsoft.com/office/drawing/2014/main" id="{1BCDA9AD-922C-4E90-B1EC-6B53636FDC56}"/>
              </a:ext>
            </a:extLst>
          </p:cNvPr>
          <p:cNvSpPr>
            <a:spLocks noGrp="1"/>
          </p:cNvSpPr>
          <p:nvPr/>
        </p:nvSpPr>
        <p:spPr>
          <a:xfrm>
            <a:off x="9048750" y="2781300"/>
            <a:ext cx="2000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600" b="1">
                <a:solidFill>
                  <a:srgbClr val="F6B94A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6B94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benchmark-callout">
            <a:extLst>
              <a:ext uri="{FF2B5EF4-FFF2-40B4-BE49-F238E27FC236}">
                <a16:creationId xmlns:a16="http://schemas.microsoft.com/office/drawing/2014/main" id="{425E3FE9-BF90-4F42-8D99-4316949E4ED8}"/>
              </a:ext>
            </a:extLst>
          </p:cNvPr>
          <p:cNvSpPr>
            <a:spLocks noGrp="1"/>
          </p:cNvSpPr>
          <p:nvPr/>
        </p:nvSpPr>
        <p:spPr>
          <a:xfrm>
            <a:off x="9048750" y="40005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Five content types share one source</a:t>
            </a:r>
          </a:p>
        </p:txBody>
      </p:sp>
      <p:sp>
        <p:nvSpPr>
          <p:cNvPr id="10" name="benchmark-source">
            <a:extLst>
              <a:ext uri="{FF2B5EF4-FFF2-40B4-BE49-F238E27FC236}">
                <a16:creationId xmlns:a16="http://schemas.microsoft.com/office/drawing/2014/main" id="{BF1E3F73-484B-456F-B797-F9C0D3098DAB}"/>
              </a:ext>
            </a:extLst>
          </p:cNvPr>
          <p:cNvSpPr>
            <a:spLocks noGrp="1"/>
          </p:cNvSpPr>
          <p:nvPr/>
        </p:nvSpPr>
        <p:spPr>
          <a:xfrm>
            <a:off x="9048750" y="504825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Synthetic QA data</a:t>
            </a:r>
          </a:p>
          <a:p>
            <a:pPr algn="l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One JSON manifest</a:t>
            </a:r>
          </a:p>
        </p:txBody>
      </p:sp>
    </p:spTree>
    <p:extLst>
      <p:ext uri="{BB962C8B-B14F-4D97-AF65-F5344CB8AC3E}">
        <p14:creationId xmlns:p14="http://schemas.microsoft.com/office/powerpoint/2010/main" val="116593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-pipeline">
            <a:extLst>
              <a:ext uri="{FF2B5EF4-FFF2-40B4-BE49-F238E27FC236}">
                <a16:creationId xmlns:a16="http://schemas.microsoft.com/office/drawing/2014/main" id="{C0FE2802-4DD4-4932-B8AD-8F3BCB046ECC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03 / DELIVERY PIPELINE</a:t>
            </a:r>
          </a:p>
        </p:txBody>
      </p:sp>
      <p:sp>
        <p:nvSpPr>
          <p:cNvPr id="2" name="page-pipeline">
            <a:extLst>
              <a:ext uri="{FF2B5EF4-FFF2-40B4-BE49-F238E27FC236}">
                <a16:creationId xmlns:a16="http://schemas.microsoft.com/office/drawing/2014/main" id="{61319A2A-ADB7-4DC0-B319-4977E1062FD5}"/>
              </a:ext>
            </a:extLst>
          </p:cNvPr>
          <p:cNvSpPr>
            <a:spLocks noGrp="1"/>
          </p:cNvSpPr>
          <p:nvPr/>
        </p:nvSpPr>
        <p:spPr>
          <a:xfrm>
            <a:off x="10668000" y="4191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04 / 05</a:t>
            </a:r>
          </a:p>
        </p:txBody>
      </p:sp>
      <p:sp>
        <p:nvSpPr>
          <p:cNvPr id="3" name="top-rule-pipeline">
            <a:extLst>
              <a:ext uri="{FF2B5EF4-FFF2-40B4-BE49-F238E27FC236}">
                <a16:creationId xmlns:a16="http://schemas.microsoft.com/office/drawing/2014/main" id="{43A6DBE3-9BEE-4455-9024-3D6E92B87C23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1049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4" name="pipeline-title">
            <a:extLst>
              <a:ext uri="{FF2B5EF4-FFF2-40B4-BE49-F238E27FC236}">
                <a16:creationId xmlns:a16="http://schemas.microsoft.com/office/drawing/2014/main" id="{4F3D6C03-9BDB-4E1F-8525-2DF5F9D57A6B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1009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Every format has an independent stopping rule</a:t>
            </a:r>
          </a:p>
        </p:txBody>
      </p:sp>
      <p:sp>
        <p:nvSpPr>
          <p:cNvPr id="5" name="pipeline-statement">
            <a:extLst>
              <a:ext uri="{FF2B5EF4-FFF2-40B4-BE49-F238E27FC236}">
                <a16:creationId xmlns:a16="http://schemas.microsoft.com/office/drawing/2014/main" id="{7E60AAAD-8D6B-4113-B2A3-B88E06A28947}"/>
              </a:ext>
            </a:extLst>
          </p:cNvPr>
          <p:cNvSpPr>
            <a:spLocks noGrp="1"/>
          </p:cNvSpPr>
          <p:nvPr/>
        </p:nvSpPr>
        <p:spPr>
          <a:xfrm>
            <a:off x="571500" y="186690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Build, render, inspect, repair, and revalidate form a closed loop; an unexecuted check never receives PASS.</a:t>
            </a:r>
          </a:p>
        </p:txBody>
      </p:sp>
      <p:sp>
        <p:nvSpPr>
          <p:cNvPr id="6" name="pipeline-rail">
            <a:extLst>
              <a:ext uri="{FF2B5EF4-FFF2-40B4-BE49-F238E27FC236}">
                <a16:creationId xmlns:a16="http://schemas.microsoft.com/office/drawing/2014/main" id="{7CE0989B-05E8-4FBD-A78E-6D8CE0703915}"/>
              </a:ext>
            </a:extLst>
          </p:cNvPr>
          <p:cNvSpPr>
            <a:spLocks noGrp="1"/>
          </p:cNvSpPr>
          <p:nvPr/>
        </p:nvSpPr>
        <p:spPr>
          <a:xfrm>
            <a:off x="1047750" y="3105150"/>
            <a:ext cx="9906000" cy="9525"/>
          </a:xfrm>
          <a:prstGeom prst="line">
            <a:avLst/>
          </a:prstGeom>
          <a:noFill/>
          <a:ln w="28575">
            <a:solidFill>
              <a:srgbClr val="27324A"/>
            </a:solidFill>
            <a:prstDash val="solid"/>
          </a:ln>
        </p:spPr>
      </p:sp>
      <p:sp>
        <p:nvSpPr>
          <p:cNvPr id="7" name="pipeline-step-1">
            <a:extLst>
              <a:ext uri="{FF2B5EF4-FFF2-40B4-BE49-F238E27FC236}">
                <a16:creationId xmlns:a16="http://schemas.microsoft.com/office/drawing/2014/main" id="{11687272-FE1C-4245-AECF-841F2187D14F}"/>
              </a:ext>
            </a:extLst>
          </p:cNvPr>
          <p:cNvSpPr>
            <a:spLocks noGrp="1"/>
          </p:cNvSpPr>
          <p:nvPr/>
        </p:nvSpPr>
        <p:spPr>
          <a:xfrm>
            <a:off x="1143000" y="28194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 w="0">
            <a:noFill/>
            <a:prstDash val="solid"/>
          </a:ln>
        </p:spPr>
      </p:sp>
      <p:sp>
        <p:nvSpPr>
          <p:cNvPr id="8" name="pipeline-step-number-1">
            <a:extLst>
              <a:ext uri="{FF2B5EF4-FFF2-40B4-BE49-F238E27FC236}">
                <a16:creationId xmlns:a16="http://schemas.microsoft.com/office/drawing/2014/main" id="{DC49036D-3F50-4E8A-AD6A-0B4DECB3A498}"/>
              </a:ext>
            </a:extLst>
          </p:cNvPr>
          <p:cNvSpPr>
            <a:spLocks noGrp="1"/>
          </p:cNvSpPr>
          <p:nvPr/>
        </p:nvSpPr>
        <p:spPr>
          <a:xfrm>
            <a:off x="1143000" y="2895600"/>
            <a:ext cx="590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pipeline-step-label-1">
            <a:extLst>
              <a:ext uri="{FF2B5EF4-FFF2-40B4-BE49-F238E27FC236}">
                <a16:creationId xmlns:a16="http://schemas.microsoft.com/office/drawing/2014/main" id="{3B9B8103-DC3A-477F-ACA2-BC9018210E37}"/>
              </a:ext>
            </a:extLst>
          </p:cNvPr>
          <p:cNvSpPr>
            <a:spLocks noGrp="1"/>
          </p:cNvSpPr>
          <p:nvPr/>
        </p:nvSpPr>
        <p:spPr>
          <a:xfrm>
            <a:off x="571500" y="35242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Shared manifest</a:t>
            </a:r>
          </a:p>
        </p:txBody>
      </p:sp>
      <p:sp>
        <p:nvSpPr>
          <p:cNvPr id="10" name="pipeline-step-2">
            <a:extLst>
              <a:ext uri="{FF2B5EF4-FFF2-40B4-BE49-F238E27FC236}">
                <a16:creationId xmlns:a16="http://schemas.microsoft.com/office/drawing/2014/main" id="{9BC188FC-8F50-417F-BEA7-6D0560EF1685}"/>
              </a:ext>
            </a:extLst>
          </p:cNvPr>
          <p:cNvSpPr>
            <a:spLocks noGrp="1"/>
          </p:cNvSpPr>
          <p:nvPr/>
        </p:nvSpPr>
        <p:spPr>
          <a:xfrm>
            <a:off x="3905250" y="28194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 w="0">
            <a:noFill/>
            <a:prstDash val="solid"/>
          </a:ln>
        </p:spPr>
      </p:sp>
      <p:sp>
        <p:nvSpPr>
          <p:cNvPr id="11" name="pipeline-step-number-2">
            <a:extLst>
              <a:ext uri="{FF2B5EF4-FFF2-40B4-BE49-F238E27FC236}">
                <a16:creationId xmlns:a16="http://schemas.microsoft.com/office/drawing/2014/main" id="{F340F812-204A-423B-B874-A836F51AECBF}"/>
              </a:ext>
            </a:extLst>
          </p:cNvPr>
          <p:cNvSpPr>
            <a:spLocks noGrp="1"/>
          </p:cNvSpPr>
          <p:nvPr/>
        </p:nvSpPr>
        <p:spPr>
          <a:xfrm>
            <a:off x="3905250" y="2895600"/>
            <a:ext cx="590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pipeline-step-label-2">
            <a:extLst>
              <a:ext uri="{FF2B5EF4-FFF2-40B4-BE49-F238E27FC236}">
                <a16:creationId xmlns:a16="http://schemas.microsoft.com/office/drawing/2014/main" id="{953CF03E-505E-40F2-A5F3-0A8C733BDEFF}"/>
              </a:ext>
            </a:extLst>
          </p:cNvPr>
          <p:cNvSpPr>
            <a:spLocks noGrp="1"/>
          </p:cNvSpPr>
          <p:nvPr/>
        </p:nvSpPr>
        <p:spPr>
          <a:xfrm>
            <a:off x="3333750" y="35242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Bilingual build</a:t>
            </a:r>
          </a:p>
        </p:txBody>
      </p:sp>
      <p:sp>
        <p:nvSpPr>
          <p:cNvPr id="13" name="pipeline-step-3">
            <a:extLst>
              <a:ext uri="{FF2B5EF4-FFF2-40B4-BE49-F238E27FC236}">
                <a16:creationId xmlns:a16="http://schemas.microsoft.com/office/drawing/2014/main" id="{AF72E4CE-C345-4481-9C76-A18FAC0BB9BD}"/>
              </a:ext>
            </a:extLst>
          </p:cNvPr>
          <p:cNvSpPr>
            <a:spLocks noGrp="1"/>
          </p:cNvSpPr>
          <p:nvPr/>
        </p:nvSpPr>
        <p:spPr>
          <a:xfrm>
            <a:off x="6667500" y="28194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 w="0">
            <a:noFill/>
            <a:prstDash val="solid"/>
          </a:ln>
        </p:spPr>
      </p:sp>
      <p:sp>
        <p:nvSpPr>
          <p:cNvPr id="14" name="pipeline-step-number-3">
            <a:extLst>
              <a:ext uri="{FF2B5EF4-FFF2-40B4-BE49-F238E27FC236}">
                <a16:creationId xmlns:a16="http://schemas.microsoft.com/office/drawing/2014/main" id="{5B5A2A8C-1511-42AB-96E9-E59E3E84899A}"/>
              </a:ext>
            </a:extLst>
          </p:cNvPr>
          <p:cNvSpPr>
            <a:spLocks noGrp="1"/>
          </p:cNvSpPr>
          <p:nvPr/>
        </p:nvSpPr>
        <p:spPr>
          <a:xfrm>
            <a:off x="6667500" y="2895600"/>
            <a:ext cx="590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pipeline-step-label-3">
            <a:extLst>
              <a:ext uri="{FF2B5EF4-FFF2-40B4-BE49-F238E27FC236}">
                <a16:creationId xmlns:a16="http://schemas.microsoft.com/office/drawing/2014/main" id="{5BACD4D7-88A5-4FBA-A1EF-41E53ED7649A}"/>
              </a:ext>
            </a:extLst>
          </p:cNvPr>
          <p:cNvSpPr>
            <a:spLocks noGrp="1"/>
          </p:cNvSpPr>
          <p:nvPr/>
        </p:nvSpPr>
        <p:spPr>
          <a:xfrm>
            <a:off x="6096000" y="35242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Dual-engine render</a:t>
            </a:r>
          </a:p>
        </p:txBody>
      </p:sp>
      <p:sp>
        <p:nvSpPr>
          <p:cNvPr id="16" name="pipeline-step-4">
            <a:extLst>
              <a:ext uri="{FF2B5EF4-FFF2-40B4-BE49-F238E27FC236}">
                <a16:creationId xmlns:a16="http://schemas.microsoft.com/office/drawing/2014/main" id="{DE0A8216-BBCB-4C7C-B359-D41247414453}"/>
              </a:ext>
            </a:extLst>
          </p:cNvPr>
          <p:cNvSpPr>
            <a:spLocks noGrp="1"/>
          </p:cNvSpPr>
          <p:nvPr/>
        </p:nvSpPr>
        <p:spPr>
          <a:xfrm>
            <a:off x="9429750" y="28194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6B94A"/>
          </a:solidFill>
          <a:ln w="0">
            <a:noFill/>
            <a:prstDash val="solid"/>
          </a:ln>
        </p:spPr>
      </p:sp>
      <p:sp>
        <p:nvSpPr>
          <p:cNvPr id="17" name="pipeline-step-number-4">
            <a:extLst>
              <a:ext uri="{FF2B5EF4-FFF2-40B4-BE49-F238E27FC236}">
                <a16:creationId xmlns:a16="http://schemas.microsoft.com/office/drawing/2014/main" id="{0482912E-64AC-4284-B9CF-03EE68DD3588}"/>
              </a:ext>
            </a:extLst>
          </p:cNvPr>
          <p:cNvSpPr>
            <a:spLocks noGrp="1"/>
          </p:cNvSpPr>
          <p:nvPr/>
        </p:nvSpPr>
        <p:spPr>
          <a:xfrm>
            <a:off x="9429750" y="2895600"/>
            <a:ext cx="590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pipeline-step-label-4">
            <a:extLst>
              <a:ext uri="{FF2B5EF4-FFF2-40B4-BE49-F238E27FC236}">
                <a16:creationId xmlns:a16="http://schemas.microsoft.com/office/drawing/2014/main" id="{9F7FA291-6AF5-407C-9B77-9BE7A104195F}"/>
              </a:ext>
            </a:extLst>
          </p:cNvPr>
          <p:cNvSpPr>
            <a:spLocks noGrp="1"/>
          </p:cNvSpPr>
          <p:nvPr/>
        </p:nvSpPr>
        <p:spPr>
          <a:xfrm>
            <a:off x="8858250" y="35242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Final recheck</a:t>
            </a:r>
          </a:p>
        </p:txBody>
      </p:sp>
      <p:graphicFrame>
        <p:nvGraphicFramePr>
          <p:cNvPr id="38" name="delivery-table"/>
          <p:cNvGraphicFramePr/>
          <p:nvPr/>
        </p:nvGraphicFramePr>
        <p:xfrm>
          <a:off x="571500" y="4267200"/>
          <a:ext cx="11049000" cy="2000250"/>
        </p:xfrm>
        <a:graphic>
          <a:graphicData uri="http://schemas.openxmlformats.org/drawingml/2006/table">
            <a:tbl>
              <a:tblPr/>
              <a:tblGrid>
                <a:gridCol w="291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020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>
                    <a:solidFill>
                      <a:srgbClr val="4FD1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020"/>
                          </a:solidFill>
                          <a:latin typeface="Arial"/>
                          <a:ea typeface="Arial"/>
                          <a:cs typeface="Arial"/>
                        </a:rPr>
                        <a:t>Verification</a:t>
                      </a:r>
                    </a:p>
                  </a:txBody>
                  <a:tcPr>
                    <a:solidFill>
                      <a:srgbClr val="4FD1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020"/>
                          </a:solidFill>
                          <a:latin typeface="Arial"/>
                          <a:ea typeface="Arial"/>
                          <a:cs typeface="Arial"/>
                        </a:rPr>
                        <a:t>Expected</a:t>
                      </a:r>
                    </a:p>
                  </a:txBody>
                  <a:tcPr>
                    <a:solidFill>
                      <a:srgbClr val="4FD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Editable PPTX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Native text, chart, table, and shapes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FD1C5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PowerPoint PDF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Desktop render and five-page parity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FD1C5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Standalone HTML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Offline open and keyboard navigation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FD1C5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Web PDF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Playwright print and five-page parity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FD1C5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410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sult-verdict">
            <a:extLst>
              <a:ext uri="{FF2B5EF4-FFF2-40B4-BE49-F238E27FC236}">
                <a16:creationId xmlns:a16="http://schemas.microsoft.com/office/drawing/2014/main" id="{414C7025-2148-4C5A-BC69-500397AE72B2}"/>
              </a:ext>
            </a:extLst>
          </p:cNvPr>
          <p:cNvSpPr>
            <a:spLocks noGrp="1"/>
          </p:cNvSpPr>
          <p:nvPr/>
        </p:nvSpPr>
        <p:spPr>
          <a:xfrm>
            <a:off x="571500" y="2000250"/>
            <a:ext cx="3714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600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" name="result-verdict-caption">
            <a:extLst>
              <a:ext uri="{FF2B5EF4-FFF2-40B4-BE49-F238E27FC236}">
                <a16:creationId xmlns:a16="http://schemas.microsoft.com/office/drawing/2014/main" id="{9C1CC95C-E139-4CC8-B5AA-B5411555C309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6B9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6B94A"/>
                </a:solidFill>
                <a:latin typeface="Arial"/>
                <a:ea typeface="Arial"/>
                <a:cs typeface="Arial"/>
              </a:rPr>
              <a:t>CORE PRODUCTION PIPELINE</a:t>
            </a:r>
          </a:p>
        </p:txBody>
      </p:sp>
      <p:sp>
        <p:nvSpPr>
          <p:cNvPr id="3" name="result-divider">
            <a:extLst>
              <a:ext uri="{FF2B5EF4-FFF2-40B4-BE49-F238E27FC236}">
                <a16:creationId xmlns:a16="http://schemas.microsoft.com/office/drawing/2014/main" id="{705AB357-F383-4E54-9034-15E8EC9508CD}"/>
              </a:ext>
            </a:extLst>
          </p:cNvPr>
          <p:cNvSpPr>
            <a:spLocks noGrp="1"/>
          </p:cNvSpPr>
          <p:nvPr/>
        </p:nvSpPr>
        <p:spPr>
          <a:xfrm>
            <a:off x="4476750" y="1619250"/>
            <a:ext cx="9525" cy="3810000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4" name="result-title">
            <a:extLst>
              <a:ext uri="{FF2B5EF4-FFF2-40B4-BE49-F238E27FC236}">
                <a16:creationId xmlns:a16="http://schemas.microsoft.com/office/drawing/2014/main" id="{FA16908F-B070-40CA-A47C-113D01BB5BBD}"/>
              </a:ext>
            </a:extLst>
          </p:cNvPr>
          <p:cNvSpPr>
            <a:spLocks noGrp="1"/>
          </p:cNvSpPr>
          <p:nvPr/>
        </p:nvSpPr>
        <p:spPr>
          <a:xfrm>
            <a:off x="5143500" y="1581150"/>
            <a:ext cx="619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static production pipeline is fully testable</a:t>
            </a:r>
          </a:p>
        </p:txBody>
      </p:sp>
      <p:sp>
        <p:nvSpPr>
          <p:cNvPr id="5" name="result-summary">
            <a:extLst>
              <a:ext uri="{FF2B5EF4-FFF2-40B4-BE49-F238E27FC236}">
                <a16:creationId xmlns:a16="http://schemas.microsoft.com/office/drawing/2014/main" id="{B69532D3-5C99-41CF-9CFC-A5C28BE826C2}"/>
              </a:ext>
            </a:extLst>
          </p:cNvPr>
          <p:cNvSpPr>
            <a:spLocks noGrp="1"/>
          </p:cNvSpPr>
          <p:nvPr/>
        </p:nvSpPr>
        <p:spPr>
          <a:xfrm>
            <a:off x="5143500" y="2724150"/>
            <a:ext cx="5905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PPTX, PowerPoint PDF, HTML, and Web PDF enter delivery only after real generation and page-by-page inspection.</a:t>
            </a:r>
          </a:p>
        </p:txBody>
      </p:sp>
      <p:sp>
        <p:nvSpPr>
          <p:cNvPr id="6" name="result-rule-1">
            <a:extLst>
              <a:ext uri="{FF2B5EF4-FFF2-40B4-BE49-F238E27FC236}">
                <a16:creationId xmlns:a16="http://schemas.microsoft.com/office/drawing/2014/main" id="{5A20FAAE-8C31-4894-BBA2-E007FC635677}"/>
              </a:ext>
            </a:extLst>
          </p:cNvPr>
          <p:cNvSpPr>
            <a:spLocks noGrp="1"/>
          </p:cNvSpPr>
          <p:nvPr/>
        </p:nvSpPr>
        <p:spPr>
          <a:xfrm>
            <a:off x="5143500" y="4048125"/>
            <a:ext cx="59055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7" name="result-pass">
            <a:extLst>
              <a:ext uri="{FF2B5EF4-FFF2-40B4-BE49-F238E27FC236}">
                <a16:creationId xmlns:a16="http://schemas.microsoft.com/office/drawing/2014/main" id="{FEAC6D55-BF84-492D-852C-9E77D4186799}"/>
              </a:ext>
            </a:extLst>
          </p:cNvPr>
          <p:cNvSpPr>
            <a:spLocks noGrp="1"/>
          </p:cNvSpPr>
          <p:nvPr/>
        </p:nvSpPr>
        <p:spPr>
          <a:xfrm>
            <a:off x="5143500" y="42672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Static content and delivery: PASS</a:t>
            </a:r>
          </a:p>
        </p:txBody>
      </p:sp>
      <p:sp>
        <p:nvSpPr>
          <p:cNvPr id="8" name="result-partial">
            <a:extLst>
              <a:ext uri="{FF2B5EF4-FFF2-40B4-BE49-F238E27FC236}">
                <a16:creationId xmlns:a16="http://schemas.microsoft.com/office/drawing/2014/main" id="{218A0E2B-8036-4AFA-A0A5-A4CA691BD331}"/>
              </a:ext>
            </a:extLst>
          </p:cNvPr>
          <p:cNvSpPr>
            <a:spLocks noGrp="1"/>
          </p:cNvSpPr>
          <p:nvPr/>
        </p:nvSpPr>
        <p:spPr>
          <a:xfrm>
            <a:off x="5143500" y="4762500"/>
            <a:ext cx="571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B9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B94A"/>
                </a:solidFill>
                <a:latin typeface="Arial"/>
                <a:ea typeface="Arial"/>
                <a:cs typeface="Arial"/>
              </a:rPr>
              <a:t>Motion visual regression: PARTIAL</a:t>
            </a:r>
          </a:p>
        </p:txBody>
      </p:sp>
      <p:sp>
        <p:nvSpPr>
          <p:cNvPr id="9" name="result-detail">
            <a:extLst>
              <a:ext uri="{FF2B5EF4-FFF2-40B4-BE49-F238E27FC236}">
                <a16:creationId xmlns:a16="http://schemas.microsoft.com/office/drawing/2014/main" id="{46D5B770-5535-49CC-A934-07CCD7C82508}"/>
              </a:ext>
            </a:extLst>
          </p:cNvPr>
          <p:cNvSpPr>
            <a:spLocks noGrp="1"/>
          </p:cNvSpPr>
          <p:nvPr/>
        </p:nvSpPr>
        <p:spPr>
          <a:xfrm>
            <a:off x="5143500" y="5219700"/>
            <a:ext cx="5905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Animation structure and slideshow launch are testable; without video capture, motion visual regression is not claimed.</a:t>
            </a:r>
          </a:p>
        </p:txBody>
      </p:sp>
      <p:sp>
        <p:nvSpPr>
          <p:cNvPr id="10" name="eyebrow-result">
            <a:extLst>
              <a:ext uri="{FF2B5EF4-FFF2-40B4-BE49-F238E27FC236}">
                <a16:creationId xmlns:a16="http://schemas.microsoft.com/office/drawing/2014/main" id="{1B9050B4-984E-466E-90D2-E28202BF545C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04 / ACCEPTANCE RESULT</a:t>
            </a:r>
          </a:p>
        </p:txBody>
      </p:sp>
      <p:sp>
        <p:nvSpPr>
          <p:cNvPr id="11" name="page-result">
            <a:extLst>
              <a:ext uri="{FF2B5EF4-FFF2-40B4-BE49-F238E27FC236}">
                <a16:creationId xmlns:a16="http://schemas.microsoft.com/office/drawing/2014/main" id="{38A81B87-8A75-46F8-96FD-13DCCEF53EBE}"/>
              </a:ext>
            </a:extLst>
          </p:cNvPr>
          <p:cNvSpPr>
            <a:spLocks noGrp="1"/>
          </p:cNvSpPr>
          <p:nvPr/>
        </p:nvSpPr>
        <p:spPr>
          <a:xfrm>
            <a:off x="10668000" y="4191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05 / 05</a:t>
            </a:r>
          </a:p>
        </p:txBody>
      </p:sp>
      <p:sp>
        <p:nvSpPr>
          <p:cNvPr id="12" name="top-rule-result">
            <a:extLst>
              <a:ext uri="{FF2B5EF4-FFF2-40B4-BE49-F238E27FC236}">
                <a16:creationId xmlns:a16="http://schemas.microsoft.com/office/drawing/2014/main" id="{72541489-9C36-4169-BC54-D9B36D32884D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1049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70735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Microsoft Office PowerPoint</Application>
  <DocSecurity>0</DocSecurity>
  <PresentationFormat>宽屏</PresentationFormat>
  <Paragraphs>80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whi ka</cp:lastModifiedBy>
  <cp:revision>1</cp:revision>
  <dcterms:created xsi:type="dcterms:W3CDTF">2026-08-13T09:08:15Z</dcterms:created>
  <dcterms:modified xsi:type="dcterms:W3CDTF">2026-08-13T09:08:42Z</dcterms:modified>
</cp:coreProperties>
</file>