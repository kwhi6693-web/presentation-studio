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5D6C2"/>
                </a:solidFill>
                <a:latin typeface="Arial"/>
              </a:rPr>
              <a:t>TECHNICAL ARCHITECTURE · EDITABLE DIAGRAM DEMO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Agent-based
presentation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A system view of intake, routing, native output, quality gates, and security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01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8732520" y="5257800"/>
            <a:ext cx="2697480" cy="1005840"/>
          </a:xfrm>
          <a:prstGeom prst="rect">
            <a:avLst/>
          </a:prstGeom>
          <a:solidFill>
            <a:srgbClr val="173F49"/>
          </a:solidFill>
          <a:ln w="10160">
            <a:solidFill>
              <a:srgbClr val="2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5486400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DIAGRAM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5806440"/>
            <a:ext cx="9144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5925312"/>
            <a:ext cx="12344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D9FFF8"/>
                </a:solidFill>
                <a:latin typeface="Arial"/>
              </a:rPr>
              <a:t>Native PPTX shapes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5D6C2"/>
                </a:solidFill>
                <a:latin typeface="Arial"/>
              </a:rPr>
              <a:t>SYSTEM OVERVIEW · DIAGRAM 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One task context coordinates every downstream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Goal, context, route, and output remain in one execution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02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51760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63240"/>
            <a:ext cx="18288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Goal
Constraints
Acceptance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3200400"/>
            <a:ext cx="301752" cy="0"/>
          </a:xfrm>
          <a:prstGeom prst="line">
            <a:avLst/>
          </a:prstGeom>
          <a:ln w="1905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520439" y="237744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2651760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3063240"/>
            <a:ext cx="18288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Task runtime
Project snapshot
Experience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16168" y="3200400"/>
            <a:ext cx="301752" cy="0"/>
          </a:xfrm>
          <a:prstGeom prst="line">
            <a:avLst/>
          </a:prstGeom>
          <a:ln w="1905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309359" y="237744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2651760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3063240"/>
            <a:ext cx="18288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Capability
Health
Fallback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05088" y="3200400"/>
            <a:ext cx="301752" cy="0"/>
          </a:xfrm>
          <a:prstGeom prst="line">
            <a:avLst/>
          </a:prstGeom>
          <a:ln w="1905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098280" y="237744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651760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3063240"/>
            <a:ext cx="18288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PPTX
HTML
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029200"/>
            <a:ext cx="57607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5D6C2"/>
                </a:solidFill>
                <a:latin typeface="Arial"/>
              </a:rPr>
              <a:t>ONE CONTEXT · ONE LOOP · ONE GATE 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5D6C2"/>
                </a:solidFill>
                <a:latin typeface="Arial"/>
              </a:rPr>
              <a:t>EXECUTION FLOW · DIAGRAM 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Autonomy is a bounded loop with explicit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Every failure has a diagnosis point and a finite repair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03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5074920" cy="150876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04872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01 /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4206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Select the smallest sufficient route.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074920" cy="150876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04872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02 / EXECUTE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52928"/>
            <a:ext cx="4206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Produce the native artifact.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5074920" cy="150876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33672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03 /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81727"/>
            <a:ext cx="4206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Check the result.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977639"/>
            <a:ext cx="5074920" cy="150876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33672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04 / RECOVER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681727"/>
            <a:ext cx="4206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Repair, fallback, or escalate.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2907792"/>
            <a:ext cx="411480" cy="0"/>
          </a:xfrm>
          <a:prstGeom prst="line">
            <a:avLst/>
          </a:prstGeom>
          <a:ln w="1778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69280" y="4736592"/>
            <a:ext cx="411480" cy="0"/>
          </a:xfrm>
          <a:prstGeom prst="line">
            <a:avLst/>
          </a:prstGeom>
          <a:ln w="1778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54880" y="5623560"/>
            <a:ext cx="2651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ABD"/>
                </a:solidFill>
                <a:latin typeface="Arial"/>
              </a:rPr>
              <a:t>finite repair budget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5D6C2"/>
                </a:solidFill>
                <a:latin typeface="Arial"/>
              </a:rPr>
              <a:t>CAPABILITY ROUTING · DIAGRAM 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The registry knows more than what is installed.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Health, reliability, latency, risk, and environment fit shape the 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04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3246120" cy="219456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2377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4F7FB"/>
                </a:solidFill>
                <a:latin typeface="Arial"/>
              </a:rPr>
              <a:t>PPT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2103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AAABD"/>
                </a:solidFill>
                <a:latin typeface="Arial"/>
              </a:rPr>
              <a:t>Native PPTX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794760"/>
            <a:ext cx="2606040" cy="128016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3794760"/>
            <a:ext cx="2397556" cy="128016"/>
          </a:xfrm>
          <a:prstGeom prst="rect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41648"/>
            <a:ext cx="1371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55D6C2"/>
                </a:solidFill>
                <a:latin typeface="Arial"/>
              </a:rPr>
              <a:t>92% 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286000"/>
            <a:ext cx="3246120" cy="219456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606040"/>
            <a:ext cx="2377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4F7FB"/>
                </a:solidFill>
                <a:latin typeface="Arial"/>
              </a:rPr>
              <a:t>Frontend Slides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017520"/>
            <a:ext cx="2103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AAABD"/>
                </a:solidFill>
                <a:latin typeface="Arial"/>
              </a:rPr>
              <a:t>HTML + PDF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3794760"/>
            <a:ext cx="2606040" cy="128016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3794760"/>
            <a:ext cx="2241194" cy="128016"/>
          </a:xfrm>
          <a:prstGeom prst="rect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041648"/>
            <a:ext cx="1371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55D6C2"/>
                </a:solidFill>
                <a:latin typeface="Arial"/>
              </a:rPr>
              <a:t>86% fit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286000"/>
            <a:ext cx="3246120" cy="219456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606040"/>
            <a:ext cx="2377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4F7FB"/>
                </a:solidFill>
                <a:latin typeface="Arial"/>
              </a:rPr>
              <a:t>Guizang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17520"/>
            <a:ext cx="2103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AAABD"/>
                </a:solidFill>
                <a:latin typeface="Arial"/>
              </a:rPr>
              <a:t>Swiss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3794760"/>
            <a:ext cx="2606040" cy="128016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3794760"/>
            <a:ext cx="2032711" cy="128016"/>
          </a:xfrm>
          <a:prstGeom prst="rect">
            <a:avLst/>
          </a:prstGeom>
          <a:solidFill>
            <a:srgbClr val="FF9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4041648"/>
            <a:ext cx="1371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9A76"/>
                </a:solidFill>
                <a:latin typeface="Arial"/>
              </a:rPr>
              <a:t>78% fit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74920"/>
            <a:ext cx="10424160" cy="685800"/>
          </a:xfrm>
          <a:prstGeom prst="rect">
            <a:avLst/>
          </a:prstGeom>
          <a:solidFill>
            <a:srgbClr val="17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303520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FFF8"/>
                </a:solidFill>
                <a:latin typeface="Arial"/>
              </a:rPr>
              <a:t>Primary → fallback 1 → fallback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21808"/>
            <a:ext cx="4114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9FFF8"/>
                </a:solidFill>
                <a:latin typeface="Arial"/>
              </a:rPr>
              <a:t>No ordinary capability failure should interrupt the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5D6C2"/>
                </a:solidFill>
                <a:latin typeface="Arial"/>
              </a:rPr>
              <a:t>DATA CONTRACT · DIAGRAM 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Structured input should survive every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The manifest, renderer, and observed contract are compared before completion.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05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889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00400"/>
            <a:ext cx="182880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CSV / JSON
Types · units · order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3337560"/>
            <a:ext cx="301752" cy="0"/>
          </a:xfrm>
          <a:prstGeom prst="line">
            <a:avLst/>
          </a:prstGeom>
          <a:ln w="1905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520439" y="251460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27889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MANIFEST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3200400"/>
            <a:ext cx="182880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Exact fields
Provenance · missingness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16168" y="3337560"/>
            <a:ext cx="301752" cy="0"/>
          </a:xfrm>
          <a:prstGeom prst="line">
            <a:avLst/>
          </a:prstGeom>
          <a:ln w="1905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309359" y="251460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27889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RENDERER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3200400"/>
            <a:ext cx="182880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Native chart
Native table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05088" y="3337560"/>
            <a:ext cx="301752" cy="0"/>
          </a:xfrm>
          <a:prstGeom prst="line">
            <a:avLst/>
          </a:prstGeom>
          <a:ln w="1905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098280" y="251460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7889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OBSERVED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3200400"/>
            <a:ext cx="182880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Read-back
Compare exactly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83480"/>
            <a:ext cx="10515600" cy="658368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99669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FFF8"/>
                </a:solidFill>
                <a:latin typeface="Arial"/>
              </a:rPr>
              <a:t>Current evidence outranks historical experience; tool success still needs independent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5D6C2"/>
                </a:solidFill>
                <a:latin typeface="Arial"/>
              </a:rPr>
              <a:t>QUALITY GATE CHAIN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Quality is a sequence of gates, not a single green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Structure, visual, data, and delivery checks close the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548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5D6C2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48840"/>
            <a:ext cx="22860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148840"/>
            <a:ext cx="71323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ABD"/>
                </a:solidFill>
                <a:latin typeface="Arial"/>
              </a:rPr>
              <a:t>Package opens; page count and object types are present.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2651760"/>
            <a:ext cx="10332720" cy="0"/>
          </a:xfrm>
          <a:prstGeom prst="line">
            <a:avLst/>
          </a:prstGeom>
          <a:ln w="9525">
            <a:solidFill>
              <a:srgbClr val="2E4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3017520"/>
            <a:ext cx="548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5D6C2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017520"/>
            <a:ext cx="22860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017520"/>
            <a:ext cx="71323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ABD"/>
                </a:solidFill>
                <a:latin typeface="Arial"/>
              </a:rPr>
              <a:t>Render every page; inspect overflow, collision, contrast, rhythm.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3520439"/>
            <a:ext cx="10332720" cy="0"/>
          </a:xfrm>
          <a:prstGeom prst="line">
            <a:avLst/>
          </a:prstGeom>
          <a:ln w="9525">
            <a:solidFill>
              <a:srgbClr val="2E4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3886200"/>
            <a:ext cx="548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5D6C2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86200"/>
            <a:ext cx="22860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886200"/>
            <a:ext cx="71323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ABD"/>
                </a:solidFill>
                <a:latin typeface="Arial"/>
              </a:rPr>
              <a:t>Charts and tables match the exact-data manifest.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4389120"/>
            <a:ext cx="10332720" cy="0"/>
          </a:xfrm>
          <a:prstGeom prst="line">
            <a:avLst/>
          </a:prstGeom>
          <a:ln w="9525">
            <a:solidFill>
              <a:srgbClr val="2E4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4754879"/>
            <a:ext cx="548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5D6C2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54879"/>
            <a:ext cx="22860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754879"/>
            <a:ext cx="71323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ABD"/>
                </a:solidFill>
                <a:latin typeface="Arial"/>
              </a:rPr>
              <a:t>Links, outputs, security, and scope are clean.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" y="5257799"/>
            <a:ext cx="10332720" cy="0"/>
          </a:xfrm>
          <a:prstGeom prst="line">
            <a:avLst/>
          </a:prstGeom>
          <a:ln w="9525">
            <a:solidFill>
              <a:srgbClr val="2E4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5D6C2"/>
                </a:solidFill>
                <a:latin typeface="Arial"/>
              </a:rPr>
              <a:t>SECURITY BOUNDARY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Automation stays inside an explicit trust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The system is autonomous inside scope and conservative at the 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07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257800" cy="338328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2860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INSIDE THE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38912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Authorized repository scope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Verified capabilities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Evidence buffer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166360" cy="3383280"/>
          </a:xfrm>
          <a:prstGeom prst="rect">
            <a:avLst/>
          </a:prstGeom>
          <a:solidFill>
            <a:srgbClr val="173F49"/>
          </a:solidFill>
          <a:ln w="10160">
            <a:solidFill>
              <a:srgbClr val="2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22860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HUMAN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29768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600" b="1">
                <a:solidFill>
                  <a:srgbClr val="D9FFF8"/>
                </a:solidFill>
                <a:latin typeface="Arial"/>
              </a:rPr>
              <a:t>Production publish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600" b="1">
                <a:solidFill>
                  <a:srgbClr val="D9FFF8"/>
                </a:solidFill>
                <a:latin typeface="Arial"/>
              </a:rPr>
              <a:t>Paid resource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600" b="1">
                <a:solidFill>
                  <a:srgbClr val="D9FFF8"/>
                </a:solidFill>
                <a:latin typeface="Arial"/>
              </a:rPr>
              <a:t>Identity / OAuth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5D6C2"/>
                </a:solidFill>
                <a:latin typeface="Arial"/>
              </a:rPr>
              <a:t>CHECKPOINT AND RESUME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Interruption should cost time, not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Stale state is reconciled, never blindly replayed.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08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889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SAVE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00400"/>
            <a:ext cx="182880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Checkpoint
Task · project · next 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3337560"/>
            <a:ext cx="301752" cy="0"/>
          </a:xfrm>
          <a:prstGeom prst="line">
            <a:avLst/>
          </a:prstGeom>
          <a:ln w="1905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520439" y="251460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27889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3200400"/>
            <a:ext cx="182880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Reconcile
HEAD · rules · capabilities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16168" y="3337560"/>
            <a:ext cx="301752" cy="0"/>
          </a:xfrm>
          <a:prstGeom prst="line">
            <a:avLst/>
          </a:prstGeom>
          <a:ln w="1905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309359" y="251460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27889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3200400"/>
            <a:ext cx="182880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Resume
Last verified state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05088" y="3337560"/>
            <a:ext cx="301752" cy="0"/>
          </a:xfrm>
          <a:prstGeom prst="line">
            <a:avLst/>
          </a:prstGeom>
          <a:ln w="1905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098280" y="2514600"/>
            <a:ext cx="2331720" cy="1645920"/>
          </a:xfrm>
          <a:prstGeom prst="rect">
            <a:avLst/>
          </a:prstGeom>
          <a:solidFill>
            <a:srgbClr val="162236"/>
          </a:solidFill>
          <a:ln w="10160">
            <a:solidFill>
              <a:srgbClr val="2C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7889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55D6C2"/>
                </a:solidFill>
                <a:latin typeface="Arial"/>
              </a:rPr>
              <a:t>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3200400"/>
            <a:ext cx="182880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Write back
Reusable route memory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5D6C2"/>
                </a:solidFill>
                <a:latin typeface="Arial"/>
              </a:rPr>
              <a:t>DESIGN PRINCIPLES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Autonomous does not mean unbounded.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One registry, one execution loop, one quality gate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9144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55D6C2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28346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4F7FB"/>
                </a:solidFill>
                <a:latin typeface="Arial"/>
              </a:rPr>
              <a:t>Experience before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96512"/>
            <a:ext cx="28346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ABD"/>
                </a:solidFill>
                <a:latin typeface="Arial"/>
              </a:rPr>
              <a:t>Reuse proven paths; reject known-bad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88920"/>
            <a:ext cx="9144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55D6C2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429000"/>
            <a:ext cx="28346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4F7FB"/>
                </a:solidFill>
                <a:latin typeface="Arial"/>
              </a:rPr>
              <a:t>Evidence before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096512"/>
            <a:ext cx="28346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ABD"/>
                </a:solidFill>
                <a:latin typeface="Arial"/>
              </a:rPr>
              <a:t>Verify the artifact, not just the tool response.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88920"/>
            <a:ext cx="9144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55D6C2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429000"/>
            <a:ext cx="28346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4F7FB"/>
                </a:solidFill>
                <a:latin typeface="Arial"/>
              </a:rPr>
              <a:t>Exception before interruption.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96512"/>
            <a:ext cx="28346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ABD"/>
                </a:solidFill>
                <a:latin typeface="Arial"/>
              </a:rPr>
              <a:t>Escalate only when the boundary is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Architecture</dc:title>
  <dc:subject>Agent-based presentation generation architecture</dc:subject>
  <dc:creator>Presentation Studio showcase</dc:creator>
  <cp:keywords/>
  <dc:description>Illustrative public showcase output generated from a traceable local manifest.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