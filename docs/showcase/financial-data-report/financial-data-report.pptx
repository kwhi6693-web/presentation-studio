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</c:v>
                </c:pt>
              </c:strCache>
            </c:strRef>
          </c:tx>
          <c:spPr>
            <a:ln w="27940">
              <a:solidFill>
                <a:srgbClr val="19A7A2"/>
              </a:solidFill>
            </a:ln>
          </c:spPr>
          <c:marker>
            <c:symbol val="diamond"/>
            <c:size val="6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1.34</c:v>
                </c:pt>
                <c:pt idx="2">
                  <c:v>1.47</c:v>
                </c:pt>
                <c:pt idx="3">
                  <c:v>1.62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Expansion</c:v>
                </c:pt>
              </c:strCache>
            </c:strRef>
          </c:tx>
          <c:spPr>
            <a:ln w="27940">
              <a:solidFill>
                <a:srgbClr val="FF7B62"/>
              </a:solidFill>
            </a:ln>
          </c:spPr>
          <c:marker>
            <c:symbol val="diamond"/>
            <c:size val="6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</c:v>
                </c:pt>
                <c:pt idx="1">
                  <c:v>0.76</c:v>
                </c:pt>
                <c:pt idx="2">
                  <c:v>0.83</c:v>
                </c:pt>
                <c:pt idx="3">
                  <c:v>0.91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6B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8"/>
          <c:min val="0.0"/>
        </c:scaling>
        <c:delete val="0"/>
        <c:axPos val="l"/>
        <c:majorGridlines>
          <c:spPr>
            <a:ln>
              <a:solidFill>
                <a:srgbClr val="D7DE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9AA6B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gross margin</c:v>
                </c:pt>
              </c:strCache>
            </c:strRef>
          </c:tx>
          <c:spPr>
            <a:solidFill>
              <a:srgbClr val="4458D8"/>
            </a:solidFill>
            <a:ln>
              <a:solidFill>
                <a:srgbClr val="4458D8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38.8</c:v>
                </c:pt>
                <c:pt idx="1">
                  <c:v>41.0</c:v>
                </c:pt>
                <c:pt idx="2">
                  <c:v>42.5</c:v>
                </c:pt>
                <c:pt idx="3">
                  <c:v>43.5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6B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>
          <c:spPr>
            <a:ln>
              <a:solidFill>
                <a:srgbClr val="D7DE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9AA6B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QUARTERLY BUSINESS REVIEW · EXACT-DATA DEMO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A small dataset,
a clear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An illustrative quarterly review with an inspectable source-to-slide contract.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01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5257800"/>
            <a:ext cx="2834640" cy="1005840"/>
          </a:xfrm>
          <a:prstGeom prst="rect">
            <a:avLst/>
          </a:prstGeom>
          <a:solidFill>
            <a:srgbClr val="1C2635"/>
          </a:solidFill>
          <a:ln w="10160">
            <a:solidFill>
              <a:srgbClr val="2E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5486400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SOURCE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5806440"/>
            <a:ext cx="2011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financial-data.csv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6126480"/>
            <a:ext cx="2011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AEB8C8"/>
                </a:solidFill>
                <a:latin typeface="Arial"/>
              </a:rPr>
              <a:t>USD millions · illustrative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KPI 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Growth is broad-based, with Expansion carrying the margin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Raw values come from the accompanying CSV; ratios are labeled derivations.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02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2423160" cy="2468880"/>
          </a:xfrm>
          <a:prstGeom prst="rect">
            <a:avLst/>
          </a:prstGeom>
          <a:solidFill>
            <a:srgbClr val="F6F8FB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96312"/>
            <a:ext cx="209397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FY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52344"/>
            <a:ext cx="2093976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$9.81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453128"/>
            <a:ext cx="2093976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Core + Expansion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331720"/>
            <a:ext cx="2423160" cy="2468880"/>
          </a:xfrm>
          <a:prstGeom prst="rect">
            <a:avLst/>
          </a:prstGeom>
          <a:solidFill>
            <a:srgbClr val="F6F8FB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2496312"/>
            <a:ext cx="209397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F7B62"/>
                </a:solidFill>
                <a:latin typeface="Arial"/>
              </a:rPr>
              <a:t>FY GROSS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752344"/>
            <a:ext cx="2093976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$3.67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4453128"/>
            <a:ext cx="2093976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Exact source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331720"/>
            <a:ext cx="2423160" cy="2468880"/>
          </a:xfrm>
          <a:prstGeom prst="rect">
            <a:avLst/>
          </a:prstGeom>
          <a:solidFill>
            <a:srgbClr val="F6F8FB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496312"/>
            <a:ext cx="209397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4458D8"/>
                </a:solidFill>
                <a:latin typeface="Arial"/>
              </a:rPr>
              <a:t>Q4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752344"/>
            <a:ext cx="2093976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43.5%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453128"/>
            <a:ext cx="2093976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Derived display ratio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2331720"/>
            <a:ext cx="2423160" cy="2468880"/>
          </a:xfrm>
          <a:prstGeom prst="rect">
            <a:avLst/>
          </a:prstGeom>
          <a:solidFill>
            <a:srgbClr val="F6F8FB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2496312"/>
            <a:ext cx="209397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42033"/>
                </a:solidFill>
                <a:latin typeface="Arial"/>
              </a:rPr>
              <a:t>Q4 VS Q1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2752344"/>
            <a:ext cx="2093976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+39%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4453128"/>
            <a:ext cx="2093976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Revenue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TREND · NATIVE CHART IN PPTX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Revenue climbs each quarter in both segments.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The companion HTML mirrors the same values for browser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03 / 09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965960"/>
          <a:ext cx="73152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58200" y="2148840"/>
            <a:ext cx="2926080" cy="310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2468880"/>
            <a:ext cx="1371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DATA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971800"/>
            <a:ext cx="2240280" cy="1097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1A2A"/>
                </a:solidFill>
                <a:latin typeface="Arial"/>
              </a:rPr>
              <a:t>8 source revenue values
remain numeric in the
native chart series.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EXACT-DATA TABLE · NATIVE TABLE IN PPTX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Order and units stay visible in the source-to-slide handoff.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Exact rows shown in source order; no hidden aggregation.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04 / 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8308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73152" marR="73152" marT="36576" marB="36576"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Quarter</a:t>
                      </a:r>
                    </a:p>
                  </a:txBody>
                  <a:tcPr marL="73152" marR="73152" marT="36576" marB="36576"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Revenue (USD M)</a:t>
                      </a:r>
                    </a:p>
                  </a:txBody>
                  <a:tcPr marL="73152" marR="73152" marT="36576" marB="36576"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Gross profit (USD M)</a:t>
                      </a:r>
                    </a:p>
                  </a:txBody>
                  <a:tcPr marL="73152" marR="73152" marT="36576" marB="36576"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73152" marR="73152" marT="36576" marB="36576">
                    <a:solidFill>
                      <a:srgbClr val="14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Core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1.20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0.42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35.0%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Core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1.34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0.51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38.1%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Core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1.47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0.58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39.5%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Core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Q4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1.62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0.66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40.7%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Expansion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0.68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0.31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45.6%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Expansion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0.76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0.35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46.1%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Expansion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0.83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0.40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48.2%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Expansion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Q4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0.91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0.44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2033"/>
                          </a:solidFill>
                          <a:latin typeface="Arial"/>
                        </a:rPr>
                        <a:t>48.4%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Expansion grows faster; Core remains the scale anchor.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Comparisons use exact CSV endpoints.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05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4983480" cy="2103120"/>
          </a:xfrm>
          <a:prstGeom prst="rect">
            <a:avLst/>
          </a:prstGeom>
          <a:solidFill>
            <a:srgbClr val="F6F8FB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450592"/>
            <a:ext cx="465429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CORE · Q1 → 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706624"/>
            <a:ext cx="4654296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$1.20 → $1.62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041648"/>
            <a:ext cx="4654296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+35.0% revenue 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286000"/>
            <a:ext cx="4983480" cy="2103120"/>
          </a:xfrm>
          <a:prstGeom prst="rect">
            <a:avLst/>
          </a:prstGeom>
          <a:solidFill>
            <a:srgbClr val="F6F8FB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450592"/>
            <a:ext cx="465429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F7B62"/>
                </a:solidFill>
                <a:latin typeface="Arial"/>
              </a:rPr>
              <a:t>EXPANSION · Q1 →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706624"/>
            <a:ext cx="4654296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$0.68 → $0.91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4041648"/>
            <a:ext cx="4654296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+33.8% revenue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2412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67085"/>
                </a:solidFill>
                <a:latin typeface="Arial"/>
              </a:rPr>
              <a:t>The comparison is a derived view; the CSV remains the authority.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TREND READOUT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The margin mix improves as Expansion earns more share.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Weighted margins are labeled derived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06 / 09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920240"/>
          <a:ext cx="7498079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595360" y="2148840"/>
            <a:ext cx="2788920" cy="3108960"/>
          </a:xfrm>
          <a:prstGeom prst="rect">
            <a:avLst/>
          </a:prstGeom>
          <a:solidFill>
            <a:srgbClr val="14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2468880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READOUT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971800"/>
            <a:ext cx="2148840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The source table
is the authority;
the chart is the
decision surface.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DATA CONTRACT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9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121A2A"/>
                </a:solidFill>
                <a:latin typeface="Arial"/>
              </a:rPr>
              <a:t>A faithful deck makes the data rules inspectable.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The data manifest records source, order, types, units, and the one labeled transformation.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07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306324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2860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9A7A2"/>
                </a:solidFill>
                <a:latin typeface="Arial"/>
              </a:rPr>
              <a:t>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1A2A"/>
                </a:solidFill>
                <a:latin typeface="Arial"/>
              </a:rPr>
              <a:t>Decimal stays decimal.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24231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</a:rPr>
              <a:t>Revenue and profit retain two decimal places.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331720"/>
            <a:ext cx="306324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606040"/>
            <a:ext cx="22860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F7B62"/>
                </a:solidFill>
                <a:latin typeface="Arial"/>
              </a:rPr>
              <a:t>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063240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1A2A"/>
                </a:solidFill>
                <a:latin typeface="Arial"/>
              </a:rPr>
              <a:t>Quarter order is stable.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11880"/>
            <a:ext cx="24231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</a:rPr>
              <a:t>Q1 → Q2 → Q3 → Q4 is preserved.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331720"/>
            <a:ext cx="306324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2606040"/>
            <a:ext cx="22860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4458D8"/>
                </a:solidFill>
                <a:latin typeface="Arial"/>
              </a:rPr>
              <a:t>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063240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1A2A"/>
                </a:solidFill>
                <a:latin typeface="Arial"/>
              </a:rPr>
              <a:t>USD millions is explicit.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611880"/>
            <a:ext cx="24231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</a:rPr>
              <a:t>No silent conversion or rounding.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00600"/>
            <a:ext cx="10607040" cy="685800"/>
          </a:xfrm>
          <a:prstGeom prst="rect">
            <a:avLst/>
          </a:prstGeom>
          <a:solidFill>
            <a:srgbClr val="14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47488"/>
            <a:ext cx="10058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Native chart + native table + exact-data manifest = a verifiable presentation artifact.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DECISION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Three actions follow from the illustrative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Keep the data contract ready for the next quarter.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08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9875520" cy="2468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Protect Core conversion; it carries the largest absolute revenue base.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Keep funding Expansion efficiency; its margin profile supports focused growth.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Reuse the data contract; update the source, not the deck by hand.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9A7A2"/>
                </a:solidFill>
                <a:latin typeface="Arial"/>
              </a:rPr>
              <a:t>CLOSE · EXACT VALUES, EDITABLE OUTCOME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3A4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68096"/>
            <a:ext cx="1005840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Arial"/>
              </a:rPr>
              <a:t>The story changes when the data can still be edited.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EB8C8"/>
                </a:solidFill>
                <a:latin typeface="Arial"/>
              </a:rPr>
              <a:t>A public dataset, a native chart, a native table, and a visible contract between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EB8C8"/>
                </a:solidFill>
                <a:latin typeface="Arial"/>
              </a:rPr>
              <a:t>09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192024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19A7A2"/>
                </a:solidFill>
                <a:latin typeface="Arial"/>
              </a:rPr>
              <a:t>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Traceable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3017520"/>
            <a:ext cx="192024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7B62"/>
                </a:solidFill>
                <a:latin typeface="Arial"/>
              </a:rPr>
              <a:t>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70332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Native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017520"/>
            <a:ext cx="192024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7D8BFF"/>
                </a:solidFill>
                <a:latin typeface="Arial"/>
              </a:rPr>
              <a:t>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70332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Fidelity 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Data Report</dc:title>
  <dc:subject>Exact-data quarterly review with native chart and table</dc:subject>
  <dc:creator>Presentation Studio showcase</dc:creator>
  <cp:keywords/>
  <dc:description>Illustrative public showcase output generated from a traceable local manifest.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