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Capability index</c:v>
                </c:pt>
              </c:strCache>
            </c:strRef>
          </c:tx>
          <c:spPr>
            <a:solidFill>
              <a:srgbClr val="19A7A2"/>
            </a:solidFill>
            <a:ln>
              <a:solidFill>
                <a:srgbClr val="19A7A2"/>
              </a:solidFill>
            </a:ln>
          </c:spPr>
          <c:cat>
            <c:strRef>
              <c:f>Sheet1!$A$2:$A$5</c:f>
              <c:strCache>
                <c:ptCount val="4"/>
                <c:pt idx="0">
                  <c:v>Prompt only</c:v>
                </c:pt>
                <c:pt idx="1">
                  <c:v>Reusable skills</c:v>
                </c:pt>
                <c:pt idx="2">
                  <c:v>Structured data</c:v>
                </c:pt>
                <c:pt idx="3">
                  <c:v>Quality-gated run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56</c:v>
                </c:pt>
                <c:pt idx="2">
                  <c:v>72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index</c:v>
                </c:pt>
              </c:strCache>
            </c:strRef>
          </c:tx>
          <c:spPr>
            <a:solidFill>
              <a:srgbClr val="FF7B62"/>
            </a:solidFill>
            <a:ln>
              <a:solidFill>
                <a:srgbClr val="FF7B62"/>
              </a:solidFill>
            </a:ln>
          </c:spPr>
          <c:cat>
            <c:strRef>
              <c:f>Sheet1!$A$2:$A$5</c:f>
              <c:strCache>
                <c:ptCount val="4"/>
                <c:pt idx="0">
                  <c:v>Output editability</c:v>
                </c:pt>
                <c:pt idx="1">
                  <c:v>Data fidelity</c:v>
                </c:pt>
                <c:pt idx="2">
                  <c:v>Traceability</c:v>
                </c:pt>
                <c:pt idx="3">
                  <c:v>Route flexibility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88</c:v>
                </c:pt>
                <c:pt idx="2">
                  <c:v>78</c:v>
                </c:pt>
                <c:pt idx="3">
                  <c:v>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AI INDUSTRY SIGNALS · ILLUSTRATIVE REPORT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The next AI advantage
is operational.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A public showcase narrative about adoption, workflow design, and guardrails.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01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5349240"/>
            <a:ext cx="2788920" cy="960120"/>
          </a:xfrm>
          <a:prstGeom prst="rect">
            <a:avLst/>
          </a:prstGeom>
          <a:solidFill>
            <a:srgbClr val="1C2635"/>
          </a:solidFill>
          <a:ln w="10160">
            <a:solidFill>
              <a:srgbClr val="2E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5559552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DATA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5833872"/>
            <a:ext cx="2286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Illustrative demo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6099048"/>
            <a:ext cx="237744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AEB8C8"/>
                </a:solidFill>
                <a:latin typeface="Arial"/>
              </a:rPr>
              <a:t>No current-market claim · 2026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EXECUTIVE READOUT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Three signals change the operating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The point is not which model wins; it is where repeatable workflows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02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15468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96312"/>
            <a:ext cx="28254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52344"/>
            <a:ext cx="282549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53128"/>
            <a:ext cx="282549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Workflow surface expands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331720"/>
            <a:ext cx="315468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2496312"/>
            <a:ext cx="28254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7B62"/>
                </a:solidFill>
                <a:latin typeface="Arial"/>
              </a:rPr>
              <a:t>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752344"/>
            <a:ext cx="282549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1→N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4453128"/>
            <a:ext cx="282549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One brief, many outputs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331720"/>
            <a:ext cx="315468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2496312"/>
            <a:ext cx="28254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458D8"/>
                </a:solidFill>
                <a:latin typeface="Arial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752344"/>
            <a:ext cx="282549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4453128"/>
            <a:ext cx="282549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Gates are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ILLUSTRATIVE ADOPTION CURVE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Adoption moves from isolated prompts to managed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Illustrative index, not a forecast. Each stage adds an operating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03 / 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965960"/>
          <a:ext cx="74066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641080" y="2011680"/>
            <a:ext cx="2834640" cy="347472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33172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743200"/>
            <a:ext cx="224028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Higher means more operating control, not more model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98348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AEB8C8"/>
                </a:solidFill>
                <a:latin typeface="Arial"/>
              </a:rPr>
              <a:t>Source: illustrative-data.json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LANDSCAPE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Value migrates toward the workflow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Separate trained intelligence from the layer that makes work dependable.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04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51663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MODEL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44805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21A2A"/>
                </a:solidFill>
                <a:latin typeface="Arial"/>
              </a:rPr>
              <a:t>Reasoning and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480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Broad capability; fast-moving differentiation.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1663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CAPABILITY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78608"/>
            <a:ext cx="44805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21A2A"/>
                </a:solidFill>
                <a:latin typeface="Arial"/>
              </a:rPr>
              <a:t>Skills, tools,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480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Connects intent to an executable 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51663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WORKFLOW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98848"/>
            <a:ext cx="44805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21A2A"/>
                </a:solidFill>
                <a:latin typeface="Arial"/>
              </a:rPr>
              <a:t>Context, routing,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4480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Where reliability and reuse compound.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931920"/>
            <a:ext cx="51663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OUTCOME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4805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21A2A"/>
                </a:solidFill>
                <a:latin typeface="Arial"/>
              </a:rPr>
              <a:t>Artifacts people can 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4480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PPTX, HTML, data views, and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OPERATING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From prompt to product: integration is the next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An illustrative sequence, not a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05 / 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3154680"/>
            <a:ext cx="9646920" cy="0"/>
          </a:xfrm>
          <a:prstGeom prst="line">
            <a:avLst/>
          </a:prstGeom>
          <a:ln w="2540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898648"/>
            <a:ext cx="502920" cy="502920"/>
          </a:xfrm>
          <a:prstGeom prst="rect">
            <a:avLst/>
          </a:prstGeom>
          <a:solidFill>
            <a:srgbClr val="19A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1A2A"/>
                </a:solidFill>
                <a:latin typeface="Arial"/>
              </a:rPr>
              <a:t>Prompt +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21031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Fast wins, uneven repeatability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898648"/>
            <a:ext cx="502920" cy="502920"/>
          </a:xfrm>
          <a:prstGeom prst="rect">
            <a:avLst/>
          </a:prstGeom>
          <a:solidFill>
            <a:srgbClr val="FF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7B62"/>
                </a:solidFill>
                <a:latin typeface="Arial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657600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1A2A"/>
                </a:solidFill>
                <a:latin typeface="Arial"/>
              </a:rPr>
              <a:t>Skill +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069080"/>
            <a:ext cx="21031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Known paths become callable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898648"/>
            <a:ext cx="502920" cy="502920"/>
          </a:xfrm>
          <a:prstGeom prst="rect">
            <a:avLst/>
          </a:prstGeom>
          <a:solidFill>
            <a:srgbClr val="44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331720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4458D8"/>
                </a:solidFill>
                <a:latin typeface="Arial"/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57600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1A2A"/>
                </a:solidFill>
                <a:latin typeface="Arial"/>
              </a:rPr>
              <a:t>Data +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21031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Exact values survive the render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2898648"/>
            <a:ext cx="502920" cy="50292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331720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42033"/>
                </a:solidFill>
                <a:latin typeface="Arial"/>
              </a:rPr>
              <a:t>HORIZON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657600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1A2A"/>
                </a:solidFill>
                <a:latin typeface="Arial"/>
              </a:rPr>
              <a:t>Autonomous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069080"/>
            <a:ext cx="21031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Verification and recovery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68112"/>
            <a:ext cx="100126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practical moat is the memory of what worked, what failed, and what can be 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BUYER PRIORITIES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The adoption decision is a quality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Illustrative priority weighting from a public-demo planning lens.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06 / 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920240"/>
          <a:ext cx="74523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641080" y="2057400"/>
            <a:ext cx="278892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377440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7B62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834640"/>
            <a:ext cx="219456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1">
                <a:solidFill>
                  <a:srgbClr val="121A2A"/>
                </a:solidFill>
                <a:latin typeface="Arial"/>
              </a:rPr>
              <a:t>Editability protects reuse.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1">
                <a:solidFill>
                  <a:srgbClr val="121A2A"/>
                </a:solidFill>
                <a:latin typeface="Arial"/>
              </a:rPr>
              <a:t>Data fidelity protects trust.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1">
                <a:solidFill>
                  <a:srgbClr val="121A2A"/>
                </a:solidFill>
                <a:latin typeface="Arial"/>
              </a:rPr>
              <a:t>Traceability protects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OPERATING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A dependable run is a loop, not a straight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Experience feeds the next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07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23317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88920"/>
            <a:ext cx="548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9A7A2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54680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11296"/>
            <a:ext cx="18288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Goal, constraints, acceptance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7248" y="3246120"/>
            <a:ext cx="301752" cy="0"/>
          </a:xfrm>
          <a:prstGeom prst="line">
            <a:avLst/>
          </a:prstGeom>
          <a:ln w="17780">
            <a:solidFill>
              <a:srgbClr val="19A7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20439" y="2514600"/>
            <a:ext cx="23317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2788920"/>
            <a:ext cx="548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7B62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3154680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3511296"/>
            <a:ext cx="18288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Experience before exploration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16168" y="3246120"/>
            <a:ext cx="301752" cy="0"/>
          </a:xfrm>
          <a:prstGeom prst="line">
            <a:avLst/>
          </a:prstGeom>
          <a:ln w="17780">
            <a:solidFill>
              <a:srgbClr val="FF7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309359" y="2514600"/>
            <a:ext cx="23317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2788920"/>
            <a:ext cx="548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4458D8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3154680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511296"/>
            <a:ext cx="18288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Produce the native artifact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5088" y="3246120"/>
            <a:ext cx="301752" cy="0"/>
          </a:xfrm>
          <a:prstGeom prst="line">
            <a:avLst/>
          </a:prstGeom>
          <a:ln w="17780">
            <a:solidFill>
              <a:srgbClr val="445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98280" y="2514600"/>
            <a:ext cx="23317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788920"/>
            <a:ext cx="548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42033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3154680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511296"/>
            <a:ext cx="18288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Repair, retry, record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892040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9A7A2"/>
                </a:solidFill>
                <a:latin typeface="Arial"/>
              </a:rPr>
              <a:t>↺  EXPERIENCE FEEDS THE NEXT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GUARDRAILS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Autonomy increases the need for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Keep routine recovery automatic; escalate only when the boundary is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08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120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KEEP AUTOMATIC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29768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500" b="1">
                <a:solidFill>
                  <a:srgbClr val="121A2A"/>
                </a:solidFill>
                <a:latin typeface="Arial"/>
              </a:rPr>
              <a:t>Targeted verification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500" b="1">
                <a:solidFill>
                  <a:srgbClr val="121A2A"/>
                </a:solidFill>
                <a:latin typeface="Arial"/>
              </a:rPr>
              <a:t>Known-bad route filter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500" b="1">
                <a:solidFill>
                  <a:srgbClr val="121A2A"/>
                </a:solidFill>
                <a:latin typeface="Arial"/>
              </a:rPr>
              <a:t>Checkpointed recovery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212080" cy="333756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28346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ESCALATE BY 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29768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Irreversible data loss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Production or paid action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Unresolvable product fork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CLOSE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Build the workflow around the artifact people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A good run ends with something editable, inspectable, and reusable.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9A7A2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9260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Make the outcome native.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29260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EB8C8"/>
                </a:solidFill>
                <a:latin typeface="Arial"/>
              </a:rPr>
              <a:t>Keep charts, tables, and text available for the next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74320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7B62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429000"/>
            <a:ext cx="29260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Make the path traceable.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069080"/>
            <a:ext cx="29260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EB8C8"/>
                </a:solidFill>
                <a:latin typeface="Arial"/>
              </a:rPr>
              <a:t>Record prompt, route, data, and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4320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7D8B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429000"/>
            <a:ext cx="29260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Make the learning reusable.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069080"/>
            <a:ext cx="29260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EB8C8"/>
                </a:solidFill>
                <a:latin typeface="Arial"/>
              </a:rPr>
              <a:t>Let each verified run improve the next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Industry Report</dc:title>
  <dc:subject>Illustrative AI industry signals and operating model</dc:subject>
  <dc:creator>Presentation Studio showcase</dc:creator>
  <cp:keywords/>
  <dc:description>Illustrative public showcase output generated from a traceable local manifest.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